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2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1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35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8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2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0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9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3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8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3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4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A334909-7335-4D3D-8127-B4BA2A42DD8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5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Basics of 2D geometric objects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74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To understand the architecture and operations of a 2D graphics system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To understand 2D coordinate systems and equations of graphs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To be able to identify the various coordinate spaces in a rendering pipeline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To understand Java 2D program structure and the Graphics2D object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To graph equations with Java programs</a:t>
            </a:r>
          </a:p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To use basic 2D geometric </a:t>
            </a:r>
            <a:r>
              <a:rPr lang="en-US" altLang="en-US" dirty="0" smtClean="0">
                <a:cs typeface="Times New Roman" panose="02020603050405020304" pitchFamily="18" charset="0"/>
              </a:rPr>
              <a:t>primitives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20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2D geometric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u="sng" dirty="0"/>
              <a:t>Points</a:t>
            </a:r>
            <a:r>
              <a:rPr lang="en-US" altLang="en-US" i="1" dirty="0"/>
              <a:t> </a:t>
            </a:r>
            <a:r>
              <a:rPr lang="en-US" altLang="en-US" dirty="0"/>
              <a:t>that are uniquely defined by their </a:t>
            </a:r>
            <a:r>
              <a:rPr lang="en-US" altLang="en-US" i="1" dirty="0"/>
              <a:t>x</a:t>
            </a:r>
            <a:r>
              <a:rPr lang="en-US" altLang="en-US" dirty="0"/>
              <a:t>- and </a:t>
            </a:r>
            <a:r>
              <a:rPr lang="en-US" altLang="en-US" i="1" dirty="0"/>
              <a:t>y</a:t>
            </a:r>
            <a:r>
              <a:rPr lang="en-US" altLang="en-US" dirty="0"/>
              <a:t>-coordinate.</a:t>
            </a:r>
          </a:p>
          <a:p>
            <a:r>
              <a:rPr lang="en-US" altLang="en-US" i="1" u="sng" dirty="0"/>
              <a:t>Lines</a:t>
            </a:r>
            <a:r>
              <a:rPr lang="en-US" altLang="en-US" dirty="0"/>
              <a:t>, </a:t>
            </a:r>
            <a:r>
              <a:rPr lang="en-US" altLang="en-US" i="1" dirty="0"/>
              <a:t>polylines </a:t>
            </a:r>
            <a:r>
              <a:rPr lang="en-US" altLang="en-US" dirty="0"/>
              <a:t>or </a:t>
            </a:r>
            <a:r>
              <a:rPr lang="en-US" altLang="en-US" i="1" dirty="0"/>
              <a:t>curves </a:t>
            </a:r>
            <a:r>
              <a:rPr lang="en-US" altLang="en-US" dirty="0"/>
              <a:t>can be defined by two or more points. </a:t>
            </a:r>
            <a:endParaRPr lang="en-US" altLang="en-US" dirty="0" smtClean="0"/>
          </a:p>
          <a:p>
            <a:r>
              <a:rPr lang="en-US" altLang="en-US" dirty="0" smtClean="0"/>
              <a:t>For a </a:t>
            </a:r>
            <a:r>
              <a:rPr lang="en-US" altLang="en-US" dirty="0"/>
              <a:t>line two points are needed, </a:t>
            </a:r>
            <a:r>
              <a:rPr lang="en-US" altLang="en-US" u="sng" dirty="0"/>
              <a:t>curves</a:t>
            </a:r>
            <a:r>
              <a:rPr lang="en-US" altLang="en-US" dirty="0"/>
              <a:t> require additional control points. </a:t>
            </a:r>
            <a:endParaRPr lang="en-US" altLang="en-US" dirty="0" smtClean="0"/>
          </a:p>
          <a:p>
            <a:r>
              <a:rPr lang="en-US" altLang="en-US" u="sng" dirty="0" smtClean="0"/>
              <a:t>Polylines</a:t>
            </a:r>
            <a:r>
              <a:rPr lang="en-US" altLang="en-US" dirty="0" smtClean="0"/>
              <a:t> </a:t>
            </a:r>
            <a:r>
              <a:rPr lang="en-US" altLang="en-US" dirty="0"/>
              <a:t>are connected sequences of lines.</a:t>
            </a:r>
          </a:p>
          <a:p>
            <a:r>
              <a:rPr lang="en-US" altLang="en-US" i="1" u="sng" dirty="0"/>
              <a:t>Areas</a:t>
            </a:r>
            <a:r>
              <a:rPr lang="en-US" altLang="en-US" i="1" dirty="0"/>
              <a:t> </a:t>
            </a:r>
            <a:r>
              <a:rPr lang="en-US" altLang="en-US" dirty="0"/>
              <a:t>are usually bounded by </a:t>
            </a:r>
            <a:r>
              <a:rPr lang="en-US" altLang="en-US" i="1" dirty="0"/>
              <a:t>closed polylines </a:t>
            </a:r>
            <a:r>
              <a:rPr lang="en-US" altLang="en-US" dirty="0"/>
              <a:t>or </a:t>
            </a:r>
            <a:r>
              <a:rPr lang="en-US" altLang="en-US" i="1" dirty="0"/>
              <a:t>polygons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r>
              <a:rPr lang="en-US" altLang="en-US" dirty="0" smtClean="0"/>
              <a:t>Areas </a:t>
            </a:r>
            <a:r>
              <a:rPr lang="en-US" altLang="en-US" dirty="0"/>
              <a:t>can be filled with a </a:t>
            </a:r>
            <a:r>
              <a:rPr lang="en-US" altLang="en-US" dirty="0" err="1"/>
              <a:t>colour</a:t>
            </a:r>
            <a:r>
              <a:rPr lang="en-US" altLang="en-US" dirty="0"/>
              <a:t> or a texture.</a:t>
            </a:r>
            <a:br>
              <a:rPr lang="en-US" altLang="en-US" dirty="0"/>
            </a:b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8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charset="0"/>
              <a:buChar char="•"/>
              <a:defRPr/>
            </a:pPr>
            <a:r>
              <a:rPr lang="en-US" dirty="0"/>
              <a:t>The graphic objects are constructed from basic primitives such as lines, polygons, and </a:t>
            </a:r>
            <a:r>
              <a:rPr lang="en-US" dirty="0" smtClean="0"/>
              <a:t>ellipses.</a:t>
            </a:r>
            <a:endParaRPr lang="en-US" dirty="0"/>
          </a:p>
          <a:p>
            <a:pPr algn="just">
              <a:buFont typeface="Arial" charset="0"/>
              <a:buChar char="•"/>
              <a:defRPr/>
            </a:pPr>
            <a:r>
              <a:rPr lang="en-US" dirty="0"/>
              <a:t>The model may also include objects such as </a:t>
            </a:r>
            <a:r>
              <a:rPr lang="en-US" dirty="0" smtClean="0"/>
              <a:t>texts </a:t>
            </a:r>
            <a:r>
              <a:rPr lang="en-US" dirty="0"/>
              <a:t>and images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dirty="0"/>
              <a:t>The transformations involved in 2D graphics are affine </a:t>
            </a:r>
            <a:r>
              <a:rPr lang="en-US" dirty="0" smtClean="0"/>
              <a:t>transforms.</a:t>
            </a:r>
            <a:endParaRPr lang="en-US" dirty="0"/>
          </a:p>
          <a:p>
            <a:pPr algn="just">
              <a:buFont typeface="Arial" charset="0"/>
              <a:buChar char="•"/>
              <a:defRPr/>
            </a:pPr>
            <a:r>
              <a:rPr lang="en-US" dirty="0"/>
              <a:t>The </a:t>
            </a:r>
            <a:r>
              <a:rPr lang="en-US" u="sng" dirty="0"/>
              <a:t>object transformations</a:t>
            </a:r>
            <a:r>
              <a:rPr lang="en-US" dirty="0"/>
              <a:t> </a:t>
            </a:r>
            <a:r>
              <a:rPr lang="en-US" dirty="0"/>
              <a:t>change the shapes and locations of the visual objects to which the transforms are </a:t>
            </a:r>
            <a:r>
              <a:rPr lang="en-US" dirty="0" smtClean="0"/>
              <a:t>applied.</a:t>
            </a:r>
            <a:endParaRPr lang="en-US" dirty="0"/>
          </a:p>
          <a:p>
            <a:pPr algn="just">
              <a:buFont typeface="Arial" charset="0"/>
              <a:buChar char="•"/>
              <a:defRPr/>
            </a:pPr>
            <a:r>
              <a:rPr lang="en-US" dirty="0"/>
              <a:t>The </a:t>
            </a:r>
            <a:r>
              <a:rPr lang="en-US" u="sng" dirty="0"/>
              <a:t>viewing transformations</a:t>
            </a:r>
            <a:r>
              <a:rPr lang="en-US" dirty="0"/>
              <a:t> do not change the virtual world model, but they change the view of the </a:t>
            </a:r>
            <a:r>
              <a:rPr lang="en-US" dirty="0"/>
              <a:t>entire scene on the world space</a:t>
            </a:r>
          </a:p>
          <a:p>
            <a:pPr lvl="1" algn="just">
              <a:buFont typeface="Arial" charset="0"/>
              <a:buChar char="•"/>
              <a:defRPr/>
            </a:pPr>
            <a:r>
              <a:rPr lang="en-US" i="1" u="sng" dirty="0"/>
              <a:t>Example: </a:t>
            </a:r>
            <a:endParaRPr lang="en-US" i="1" u="sng" dirty="0" smtClean="0"/>
          </a:p>
          <a:p>
            <a:pPr lvl="1" algn="just">
              <a:buFont typeface="Arial" charset="0"/>
              <a:buChar char="•"/>
              <a:defRPr/>
            </a:pPr>
            <a:r>
              <a:rPr lang="en-US" dirty="0" smtClean="0"/>
              <a:t>In </a:t>
            </a:r>
            <a:r>
              <a:rPr lang="en-US" dirty="0"/>
              <a:t>a virtual model with a circle and a triangle, a translation applied to a circle as an object transformation will move only the circle without changing the rectangle. A translation as a viewing transforms will move the entire view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5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Coordinate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US" altLang="en-US" dirty="0">
                <a:latin typeface="Times New Roman" panose="02020603050405020304" pitchFamily="18" charset="0"/>
              </a:rPr>
              <a:t>In order to represent geometry precisely and efficiently in computers, coordinate systems are </a:t>
            </a:r>
            <a:r>
              <a:rPr lang="en-US" altLang="en-US" dirty="0" smtClean="0">
                <a:latin typeface="Times New Roman" panose="02020603050405020304" pitchFamily="18" charset="0"/>
              </a:rPr>
              <a:t>employed. 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</a:pPr>
            <a:r>
              <a:rPr lang="en-US" altLang="en-US" dirty="0">
                <a:latin typeface="Times New Roman" panose="02020603050405020304" pitchFamily="18" charset="0"/>
              </a:rPr>
              <a:t>The most commonly used 2D coordinate system  employs rectangular (Cartesian) </a:t>
            </a:r>
            <a:r>
              <a:rPr lang="en-US" altLang="en-US" dirty="0" smtClean="0">
                <a:latin typeface="Times New Roman" panose="02020603050405020304" pitchFamily="18" charset="0"/>
              </a:rPr>
              <a:t>coordinates.</a:t>
            </a:r>
            <a:endParaRPr lang="en-US" altLang="en-US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335327"/>
              </p:ext>
            </p:extLst>
          </p:nvPr>
        </p:nvGraphicFramePr>
        <p:xfrm>
          <a:off x="8516937" y="3233481"/>
          <a:ext cx="3675063" cy="344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Picture" r:id="rId3" imgW="2115312" imgH="1972056" progId="Word.Picture.8">
                  <p:embed/>
                </p:oleObj>
              </mc:Choice>
              <mc:Fallback>
                <p:oleObj name="Picture" r:id="rId3" imgW="2115312" imgH="1972056" progId="Word.Picture.8">
                  <p:embed/>
                  <p:pic>
                    <p:nvPicPr>
                      <p:cNvPr id="10244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6937" y="3233481"/>
                        <a:ext cx="3675063" cy="34432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45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A line can be represented by a polynomial equation of degree 1 </a:t>
            </a:r>
          </a:p>
          <a:p>
            <a:endParaRPr lang="en-US" dirty="0"/>
          </a:p>
        </p:txBody>
      </p:sp>
      <p:graphicFrame>
        <p:nvGraphicFramePr>
          <p:cNvPr id="4" name="Object 5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968655"/>
              </p:ext>
            </p:extLst>
          </p:nvPr>
        </p:nvGraphicFramePr>
        <p:xfrm>
          <a:off x="8379542" y="3478161"/>
          <a:ext cx="372427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Picture" r:id="rId3" imgW="2142744" imgH="1866900" progId="Word.Picture.8">
                  <p:embed/>
                </p:oleObj>
              </mc:Choice>
              <mc:Fallback>
                <p:oleObj name="Picture" r:id="rId3" imgW="2142744" imgH="1866900" progId="Word.Picture.8">
                  <p:embed/>
                  <p:pic>
                    <p:nvPicPr>
                      <p:cNvPr id="12292" name="Object 5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9542" y="3478161"/>
                        <a:ext cx="3724275" cy="3260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1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831989"/>
              </p:ext>
            </p:extLst>
          </p:nvPr>
        </p:nvGraphicFramePr>
        <p:xfrm>
          <a:off x="8684342" y="2639961"/>
          <a:ext cx="24098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r:id="rId5" imgW="1040948" imgH="203112" progId="Equation.3">
                  <p:embed/>
                </p:oleObj>
              </mc:Choice>
              <mc:Fallback>
                <p:oleObj r:id="rId5" imgW="1040948" imgH="203112" progId="Equation.3">
                  <p:embed/>
                  <p:pic>
                    <p:nvPicPr>
                      <p:cNvPr id="12293" name="Object 5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4342" y="2639961"/>
                        <a:ext cx="2409825" cy="463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4021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Circle and ellipse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A circle centered at the origin with radius R is represented by the </a:t>
            </a:r>
            <a:r>
              <a:rPr lang="en-US" altLang="en-US" dirty="0" smtClean="0">
                <a:latin typeface="Times New Roman" panose="02020603050405020304" pitchFamily="18" charset="0"/>
              </a:rPr>
              <a:t>equation:</a:t>
            </a:r>
          </a:p>
          <a:p>
            <a:r>
              <a:rPr lang="en-US" altLang="en-US" dirty="0" smtClean="0">
                <a:latin typeface="Times New Roman" panose="02020603050405020304" pitchFamily="18" charset="0"/>
              </a:rPr>
              <a:t>x</a:t>
            </a:r>
            <a:r>
              <a:rPr lang="en-US" altLang="en-US" baseline="30000" dirty="0" smtClean="0">
                <a:latin typeface="Times New Roman" panose="02020603050405020304" pitchFamily="18" charset="0"/>
              </a:rPr>
              <a:t>2</a:t>
            </a:r>
            <a:r>
              <a:rPr lang="en-US" altLang="en-US" dirty="0" smtClean="0">
                <a:latin typeface="Times New Roman" panose="02020603050405020304" pitchFamily="18" charset="0"/>
              </a:rPr>
              <a:t>+y</a:t>
            </a:r>
            <a:r>
              <a:rPr lang="en-US" altLang="en-US" baseline="30000" dirty="0" smtClean="0">
                <a:latin typeface="Times New Roman" panose="02020603050405020304" pitchFamily="18" charset="0"/>
              </a:rPr>
              <a:t>2</a:t>
            </a:r>
            <a:r>
              <a:rPr lang="en-US" altLang="en-US" dirty="0" smtClean="0">
                <a:latin typeface="Times New Roman" panose="02020603050405020304" pitchFamily="18" charset="0"/>
              </a:rPr>
              <a:t>=r</a:t>
            </a:r>
            <a:r>
              <a:rPr lang="en-US" altLang="en-US" baseline="30000" dirty="0" smtClean="0">
                <a:latin typeface="Times New Roman" panose="02020603050405020304" pitchFamily="18" charset="0"/>
              </a:rPr>
              <a:t>2</a:t>
            </a:r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dirty="0" smtClean="0"/>
              <a:t>Ellipse is defined by the standard equation: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7881221" y="2445918"/>
            <a:ext cx="4191000" cy="3565525"/>
            <a:chOff x="4879258" y="2868561"/>
            <a:chExt cx="4191000" cy="3565525"/>
          </a:xfrm>
        </p:grpSpPr>
        <p:graphicFrame>
          <p:nvGraphicFramePr>
            <p:cNvPr id="14" name="Object 51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177491"/>
                </p:ext>
              </p:extLst>
            </p:nvPr>
          </p:nvGraphicFramePr>
          <p:xfrm>
            <a:off x="4879258" y="3173361"/>
            <a:ext cx="3724275" cy="326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Picture" r:id="rId3" imgW="2145792" imgH="1865376" progId="Word.Picture.8">
                    <p:embed/>
                  </p:oleObj>
                </mc:Choice>
                <mc:Fallback>
                  <p:oleObj name="Picture" r:id="rId3" imgW="2145792" imgH="1865376" progId="Word.Picture.8">
                    <p:embed/>
                    <p:pic>
                      <p:nvPicPr>
                        <p:cNvPr id="5" name="Object 5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9258" y="3173361"/>
                          <a:ext cx="3724275" cy="326072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2"/>
            <p:cNvSpPr>
              <a:spLocks noChangeArrowheads="1"/>
            </p:cNvSpPr>
            <p:nvPr/>
          </p:nvSpPr>
          <p:spPr bwMode="auto">
            <a:xfrm>
              <a:off x="5927008" y="3821061"/>
              <a:ext cx="1295400" cy="1295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6" name="Line 3"/>
            <p:cNvSpPr>
              <a:spLocks noChangeShapeType="1"/>
            </p:cNvSpPr>
            <p:nvPr/>
          </p:nvSpPr>
          <p:spPr bwMode="auto">
            <a:xfrm>
              <a:off x="4879258" y="4468761"/>
              <a:ext cx="3886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4"/>
            <p:cNvSpPr>
              <a:spLocks noChangeShapeType="1"/>
            </p:cNvSpPr>
            <p:nvPr/>
          </p:nvSpPr>
          <p:spPr bwMode="auto">
            <a:xfrm flipH="1" flipV="1">
              <a:off x="6574708" y="3173361"/>
              <a:ext cx="9525" cy="2819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5"/>
            <p:cNvSpPr txBox="1">
              <a:spLocks noChangeArrowheads="1"/>
            </p:cNvSpPr>
            <p:nvPr/>
          </p:nvSpPr>
          <p:spPr bwMode="auto">
            <a:xfrm>
              <a:off x="8917858" y="4392561"/>
              <a:ext cx="1524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9" name="TextBox 6"/>
            <p:cNvSpPr txBox="1">
              <a:spLocks noChangeArrowheads="1"/>
            </p:cNvSpPr>
            <p:nvPr/>
          </p:nvSpPr>
          <p:spPr bwMode="auto">
            <a:xfrm>
              <a:off x="6708058" y="2868561"/>
              <a:ext cx="3048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Times New Roman" panose="02020603050405020304" pitchFamily="18" charset="0"/>
                </a:rPr>
                <a:t>y</a:t>
              </a:r>
            </a:p>
          </p:txBody>
        </p:sp>
      </p:grpSp>
      <p:graphicFrame>
        <p:nvGraphicFramePr>
          <p:cNvPr id="21" name="Object 20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69513"/>
              </p:ext>
            </p:extLst>
          </p:nvPr>
        </p:nvGraphicFramePr>
        <p:xfrm>
          <a:off x="1877961" y="3740401"/>
          <a:ext cx="26574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r:id="rId5" imgW="1587500" imgH="419100" progId="Equation.3">
                  <p:embed/>
                </p:oleObj>
              </mc:Choice>
              <mc:Fallback>
                <p:oleObj r:id="rId5" imgW="1587500" imgH="419100" progId="Equation.3">
                  <p:embed/>
                  <p:pic>
                    <p:nvPicPr>
                      <p:cNvPr id="16389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7961" y="3740401"/>
                        <a:ext cx="2657475" cy="700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164802"/>
              </p:ext>
            </p:extLst>
          </p:nvPr>
        </p:nvGraphicFramePr>
        <p:xfrm>
          <a:off x="3648946" y="4277893"/>
          <a:ext cx="3708400" cy="327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Picture" r:id="rId7" imgW="2136648" imgH="1874520" progId="Word.Picture.8">
                  <p:embed/>
                </p:oleObj>
              </mc:Choice>
              <mc:Fallback>
                <p:oleObj name="Picture" r:id="rId7" imgW="2136648" imgH="1874520" progId="Word.Picture.8">
                  <p:embed/>
                  <p:pic>
                    <p:nvPicPr>
                      <p:cNvPr id="16388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946" y="4277893"/>
                        <a:ext cx="3708400" cy="3278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8299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Parametric equations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In a parametric equation a third variable t is introduced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Both x and y are expressed as functions of </a:t>
            </a:r>
            <a:r>
              <a:rPr lang="en-US" altLang="en-US" dirty="0" smtClean="0"/>
              <a:t>t</a:t>
            </a:r>
          </a:p>
          <a:p>
            <a:pPr algn="just">
              <a:buFont typeface="Arial" charset="0"/>
              <a:buChar char="•"/>
              <a:defRPr/>
            </a:pPr>
            <a:endParaRPr lang="en-US" altLang="en-US" dirty="0"/>
          </a:p>
          <a:p>
            <a:pPr algn="just">
              <a:buFont typeface="Arial" charset="0"/>
              <a:buChar char="•"/>
              <a:defRPr/>
            </a:pPr>
            <a:endParaRPr lang="en-US" altLang="en-US" dirty="0" smtClean="0"/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Example: Parametric equation of an </a:t>
            </a:r>
            <a:r>
              <a:rPr lang="en-US" altLang="en-US" dirty="0" smtClean="0">
                <a:latin typeface="Times New Roman" panose="02020603050405020304" pitchFamily="18" charset="0"/>
              </a:rPr>
              <a:t>ellipse: 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algn="just">
              <a:buFont typeface="Arial" charset="0"/>
              <a:buChar char="•"/>
              <a:defRPr/>
            </a:pPr>
            <a:endParaRPr lang="en-US" altLang="en-US" dirty="0"/>
          </a:p>
          <a:p>
            <a:pPr algn="just">
              <a:buFont typeface="Arial" charset="0"/>
              <a:buChar char="•"/>
              <a:defRPr/>
            </a:pPr>
            <a:endParaRPr lang="en-US" dirty="0"/>
          </a:p>
        </p:txBody>
      </p:sp>
      <p:graphicFrame>
        <p:nvGraphicFramePr>
          <p:cNvPr id="4" name="Object 20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178109"/>
              </p:ext>
            </p:extLst>
          </p:nvPr>
        </p:nvGraphicFramePr>
        <p:xfrm>
          <a:off x="6941472" y="2698699"/>
          <a:ext cx="1566863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r:id="rId3" imgW="545863" imgH="431613" progId="Equation.3">
                  <p:embed/>
                </p:oleObj>
              </mc:Choice>
              <mc:Fallback>
                <p:oleObj r:id="rId3" imgW="545863" imgH="431613" progId="Equation.3">
                  <p:embed/>
                  <p:pic>
                    <p:nvPicPr>
                      <p:cNvPr id="18436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1472" y="2698699"/>
                        <a:ext cx="1566863" cy="1236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329070"/>
              </p:ext>
            </p:extLst>
          </p:nvPr>
        </p:nvGraphicFramePr>
        <p:xfrm>
          <a:off x="6312310" y="4512652"/>
          <a:ext cx="2667000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r:id="rId5" imgW="939800" imgH="457200" progId="Equation.3">
                  <p:embed/>
                </p:oleObj>
              </mc:Choice>
              <mc:Fallback>
                <p:oleObj r:id="rId5" imgW="939800" imgH="457200" progId="Equation.3">
                  <p:embed/>
                  <p:pic>
                    <p:nvPicPr>
                      <p:cNvPr id="18437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310" y="4512652"/>
                        <a:ext cx="2667000" cy="12922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436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itchFamily="34" charset="0"/>
              <a:buChar char="•"/>
              <a:defRPr/>
            </a:pPr>
            <a:r>
              <a:rPr lang="en-US" dirty="0"/>
              <a:t>The collection of all points or coordinates is known as a space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dirty="0"/>
              <a:t>Three types of spaces are typically involved in a graphics system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000" dirty="0"/>
              <a:t>Object space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000" dirty="0"/>
              <a:t>World space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000" dirty="0"/>
              <a:t>Device space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dirty="0"/>
              <a:t>Each space is usually characterized by its own coordinate system</a:t>
            </a:r>
          </a:p>
          <a:p>
            <a:pPr>
              <a:defRPr/>
            </a:pPr>
            <a:r>
              <a:rPr lang="en-US" u="sng" dirty="0"/>
              <a:t>Object space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Also known as local or modeling coordinate system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Associated with the definition of a particular graphic object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In constructing such an object, it is usually convenient to choose a coordinate system that is natural to the object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For example: </a:t>
            </a:r>
            <a:r>
              <a:rPr lang="en-US" sz="2000" i="1" dirty="0"/>
              <a:t>when we define a circle, we may choose to have the origin of the coordinate system at the center of the circle and simple define a unit circle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36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u="sng" dirty="0"/>
              <a:t>World space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Known as user coordinate system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Define a common reference space for all objects in a graphic model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Geometric objects are placed into this space through object </a:t>
            </a:r>
            <a:r>
              <a:rPr lang="en-US" sz="2000" dirty="0" smtClean="0"/>
              <a:t>transforms</a:t>
            </a:r>
            <a:endParaRPr lang="en-US" sz="2000" dirty="0"/>
          </a:p>
          <a:p>
            <a:pPr>
              <a:defRPr/>
            </a:pPr>
            <a:r>
              <a:rPr lang="en-US" u="sng" dirty="0" smtClean="0"/>
              <a:t>Device </a:t>
            </a:r>
            <a:r>
              <a:rPr lang="en-US" u="sng" dirty="0"/>
              <a:t>space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/>
              <a:t>Represent the display space of an output device such as a screen or a </a:t>
            </a:r>
            <a:r>
              <a:rPr lang="en-US" sz="2000" dirty="0" smtClean="0"/>
              <a:t>printer.</a:t>
            </a:r>
          </a:p>
          <a:p>
            <a:pPr marL="800100" lvl="1" indent="-342900">
              <a:buFont typeface="Wingdings" pitchFamily="2" charset="2"/>
              <a:buChar char="Ø"/>
              <a:defRPr/>
            </a:pPr>
            <a:r>
              <a:rPr lang="en-US" sz="2000" dirty="0" smtClean="0"/>
              <a:t>Example Java panel:</a:t>
            </a:r>
            <a:endParaRPr lang="en-US" sz="2000" dirty="0"/>
          </a:p>
          <a:p>
            <a:endParaRPr lang="en-US" dirty="0"/>
          </a:p>
        </p:txBody>
      </p:sp>
      <p:graphicFrame>
        <p:nvGraphicFramePr>
          <p:cNvPr id="4" name="Object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286056266"/>
              </p:ext>
            </p:extLst>
          </p:nvPr>
        </p:nvGraphicFramePr>
        <p:xfrm>
          <a:off x="6019800" y="4572000"/>
          <a:ext cx="32004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Picture" r:id="rId3" imgW="2276856" imgH="1533144" progId="Word.Picture.8">
                  <p:embed/>
                </p:oleObj>
              </mc:Choice>
              <mc:Fallback>
                <p:oleObj name="Picture" r:id="rId3" imgW="2276856" imgH="1533144" progId="Word.Picture.8">
                  <p:embed/>
                  <p:pic>
                    <p:nvPicPr>
                      <p:cNvPr id="2048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572000"/>
                        <a:ext cx="3200400" cy="2286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437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Java Graphics2D </a:t>
            </a:r>
            <a:r>
              <a:rPr lang="en-US" dirty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In Java 2D, the rendering engine is accessed through the class Graphics2D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In the early versions of Java, graphics drawings are obtained through the class </a:t>
            </a:r>
            <a:r>
              <a:rPr lang="en-US" altLang="en-US" dirty="0" err="1"/>
              <a:t>java.awt.Graphics</a:t>
            </a:r>
            <a:endParaRPr lang="en-US" altLang="en-US" dirty="0"/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The Graphics class contains basic methods for rendering graphic primitives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Java 2D uses the more extensive Graphics2D class for its rendering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Graphics2G extends the graphics to maintain compatibility with earlier AWT rendering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dirty="0">
                <a:cs typeface="Courier New" pitchFamily="49" charset="0"/>
              </a:rPr>
              <a:t>Graphics2D and Graphics classes are abstract, so you can’t instantiate directly</a:t>
            </a:r>
          </a:p>
          <a:p>
            <a:pPr algn="just">
              <a:buFont typeface="Arial" charset="0"/>
              <a:buChar char="•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859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Graphics2D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charset="0"/>
              <a:buChar char="•"/>
              <a:defRPr/>
            </a:pPr>
            <a:r>
              <a:rPr lang="en-US" dirty="0"/>
              <a:t>Two ways to retrieve a Graphic2D </a:t>
            </a:r>
            <a:r>
              <a:rPr lang="en-US" dirty="0"/>
              <a:t>object</a:t>
            </a: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en-US" dirty="0" smtClean="0">
                <a:cs typeface="Courier New" pitchFamily="49" charset="0"/>
              </a:rPr>
              <a:t>Obtain </a:t>
            </a:r>
            <a:r>
              <a:rPr lang="en-US" dirty="0">
                <a:cs typeface="Courier New" pitchFamily="49" charset="0"/>
              </a:rPr>
              <a:t>as a parameter in the paint component </a:t>
            </a:r>
            <a:r>
              <a:rPr lang="en-US" dirty="0" smtClean="0">
                <a:cs typeface="Courier New" pitchFamily="49" charset="0"/>
              </a:rPr>
              <a:t>method:</a:t>
            </a: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endParaRPr lang="en-US" dirty="0">
              <a:cs typeface="Courier New" pitchFamily="49" charset="0"/>
            </a:endParaRP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endParaRPr lang="en-US" dirty="0" smtClean="0">
              <a:cs typeface="Courier New" pitchFamily="49" charset="0"/>
            </a:endParaRP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endParaRPr lang="en-US" dirty="0" smtClean="0">
              <a:cs typeface="Courier New" pitchFamily="49" charset="0"/>
            </a:endParaRP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endParaRPr lang="en-US" dirty="0">
              <a:cs typeface="Courier New" pitchFamily="49" charset="0"/>
            </a:endParaRP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endParaRPr lang="en-US" dirty="0" smtClean="0">
              <a:cs typeface="Courier New" pitchFamily="49" charset="0"/>
            </a:endParaRP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r>
              <a:rPr lang="en-US" dirty="0" smtClean="0">
                <a:cs typeface="Courier New" pitchFamily="49" charset="0"/>
              </a:rPr>
              <a:t>Obtain </a:t>
            </a:r>
            <a:r>
              <a:rPr lang="en-US" dirty="0">
                <a:cs typeface="Courier New" pitchFamily="49" charset="0"/>
              </a:rPr>
              <a:t>a reference to a Graphics2D object is to call the method </a:t>
            </a:r>
            <a:r>
              <a:rPr lang="en-US" dirty="0" err="1" smtClean="0">
                <a:cs typeface="Courier New" pitchFamily="49" charset="0"/>
              </a:rPr>
              <a:t>getGraphics</a:t>
            </a:r>
            <a:r>
              <a:rPr lang="en-US" dirty="0" smtClean="0">
                <a:cs typeface="Courier New" pitchFamily="49" charset="0"/>
              </a:rPr>
              <a:t>:</a:t>
            </a:r>
            <a:endParaRPr lang="en-US" dirty="0">
              <a:cs typeface="Courier New" pitchFamily="49" charset="0"/>
            </a:endParaRPr>
          </a:p>
          <a:p>
            <a:pPr marL="617220" lvl="1" indent="-342900">
              <a:spcBef>
                <a:spcPct val="20000"/>
              </a:spcBef>
              <a:buClr>
                <a:schemeClr val="tx2"/>
              </a:buClr>
              <a:buSzPct val="75000"/>
              <a:buFont typeface="+mj-lt"/>
              <a:buAutoNum type="arabicPeriod"/>
              <a:defRPr/>
            </a:pPr>
            <a:endParaRPr lang="en-US" dirty="0"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41523" y="4882551"/>
            <a:ext cx="3230372" cy="3421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/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Graphics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getGraphics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altLang="en-US" sz="1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1523" y="2831630"/>
            <a:ext cx="6096000" cy="6270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/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paintComponent</a:t>
            </a:r>
            <a:r>
              <a:rPr 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(Graphics g){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}</a:t>
            </a:r>
            <a:endParaRPr lang="en-US" sz="1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91148" y="3517866"/>
            <a:ext cx="9899216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dirty="0">
                <a:cs typeface="Times New Roman" pitchFamily="18" charset="0"/>
              </a:rPr>
              <a:t>The parameter g is declared to be Graphics, but it is also a Graphics2D object. </a:t>
            </a:r>
            <a:endParaRPr lang="en-US" dirty="0" smtClean="0"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en-US" dirty="0" smtClean="0">
                <a:cs typeface="Times New Roman" pitchFamily="18" charset="0"/>
              </a:rPr>
              <a:t>It </a:t>
            </a:r>
            <a:r>
              <a:rPr lang="en-US" dirty="0">
                <a:cs typeface="Times New Roman" pitchFamily="18" charset="0"/>
              </a:rPr>
              <a:t>can be a cast to graphics 2D object </a:t>
            </a:r>
            <a:endParaRPr lang="en-US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05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and 2D Graphics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charset="0"/>
              <a:buChar char="•"/>
              <a:defRPr/>
            </a:pPr>
            <a:r>
              <a:rPr lang="en-US" altLang="en-US" dirty="0" smtClean="0"/>
              <a:t>In </a:t>
            </a:r>
            <a:r>
              <a:rPr lang="en-US" altLang="en-US" dirty="0"/>
              <a:t>Graphics  (AWT)  there is no separation between the modular and </a:t>
            </a:r>
            <a:r>
              <a:rPr lang="en-US" altLang="en-US" dirty="0" smtClean="0"/>
              <a:t>renderer</a:t>
            </a:r>
            <a:endParaRPr lang="en-US" altLang="en-US" dirty="0"/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For example: a single method </a:t>
            </a:r>
            <a:r>
              <a:rPr lang="en-US" altLang="en-US" dirty="0" err="1"/>
              <a:t>drawOval</a:t>
            </a:r>
            <a:r>
              <a:rPr lang="en-US" altLang="en-US" dirty="0"/>
              <a:t> is responsible for both defining (modeling) an ellipse and drawing (rendering) the </a:t>
            </a:r>
            <a:r>
              <a:rPr lang="en-US" altLang="en-US" dirty="0" smtClean="0"/>
              <a:t>ellipse</a:t>
            </a:r>
            <a:endParaRPr lang="en-US" altLang="en-US" dirty="0"/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In Graphics2D a separation between modeling and </a:t>
            </a:r>
            <a:r>
              <a:rPr lang="en-US" altLang="en-US" dirty="0" smtClean="0"/>
              <a:t>rendering</a:t>
            </a:r>
            <a:endParaRPr lang="en-US" altLang="en-US" dirty="0"/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For example: to draw an Ellipse, you can create an instance of Ellipse2D (which implements the shape interface) and call the draw method to render </a:t>
            </a:r>
            <a:r>
              <a:rPr lang="en-US" altLang="en-US" dirty="0" smtClean="0"/>
              <a:t>it.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 smtClean="0"/>
              <a:t>Example:</a:t>
            </a:r>
            <a:endParaRPr lang="en-US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530943" y="4812829"/>
            <a:ext cx="4674104" cy="20451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public void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paintComponent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(Graphics g) {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super.paintComponent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g.drawLine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(30,30,200,30);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g.drawLine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(200,30,30,200);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g.drawLine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(30,200,200,200);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g.drawLine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(200,200,30,30);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541342" y="4355691"/>
            <a:ext cx="3043777" cy="2502310"/>
            <a:chOff x="2655888" y="2273300"/>
            <a:chExt cx="4024312" cy="2987675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2428875"/>
              <a:ext cx="2819400" cy="2832100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2700000">
                <a:schemeClr val="bg2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2655888" y="2274888"/>
              <a:ext cx="93662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Courier New" panose="02070309020205020404" pitchFamily="49" charset="0"/>
                </a:rPr>
                <a:t>(30,30)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5529263" y="2273300"/>
              <a:ext cx="104298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Courier New" panose="02070309020205020404" pitchFamily="49" charset="0"/>
                </a:rPr>
                <a:t>(200,30)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709863" y="4927600"/>
              <a:ext cx="104298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>
                  <a:latin typeface="Courier New" panose="02070309020205020404" pitchFamily="49" charset="0"/>
                </a:rPr>
                <a:t>(30,200)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5529263" y="4913313"/>
              <a:ext cx="11509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D2CB6C"/>
                </a:buClr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5A39D"/>
                </a:buClr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89F5D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400" dirty="0">
                  <a:latin typeface="Courier New" panose="02070309020205020404" pitchFamily="49" charset="0"/>
                </a:rPr>
                <a:t>(200,200)</a:t>
              </a:r>
              <a:endParaRPr lang="en-US" altLang="en-US" sz="1400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914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and 2D Graphics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Try using only the function </a:t>
            </a:r>
            <a:r>
              <a:rPr lang="en-US" altLang="en-US" dirty="0" err="1"/>
              <a:t>drawLine</a:t>
            </a:r>
            <a:r>
              <a:rPr lang="en-US" altLang="en-US" dirty="0"/>
              <a:t> to plot </a:t>
            </a:r>
            <a:r>
              <a:rPr lang="en-US" altLang="en-US" dirty="0" smtClean="0"/>
              <a:t>the 10 </a:t>
            </a:r>
            <a:r>
              <a:rPr lang="en-US" altLang="en-US" dirty="0"/>
              <a:t>digits </a:t>
            </a:r>
            <a:r>
              <a:rPr lang="en-US" altLang="en-US" dirty="0" smtClean="0"/>
              <a:t>–approximately- </a:t>
            </a:r>
            <a:r>
              <a:rPr lang="en-US" altLang="en-US" dirty="0"/>
              <a:t>{0,1,2 …9}</a:t>
            </a:r>
          </a:p>
          <a:p>
            <a:r>
              <a:rPr lang="en-US" altLang="en-US" dirty="0"/>
              <a:t>Example for the digit 2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0013029" y="2765323"/>
            <a:ext cx="1539875" cy="2438400"/>
            <a:chOff x="1508125" y="3276600"/>
            <a:chExt cx="1539875" cy="24384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524000" y="3276600"/>
              <a:ext cx="152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1524000" y="4495800"/>
              <a:ext cx="152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048000" y="3276600"/>
              <a:ext cx="0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508125" y="5715000"/>
              <a:ext cx="152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508125" y="4495800"/>
              <a:ext cx="0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7809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Graphing equations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Mathematical equations are important in modeling graphics objects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Plotting an equation is a simple graphics application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A simple way to graph an equation is to generate a sequence of coordinated satisfying the equation and then plot the points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For a function of the form y=f(x), it is straightforward to choose a set of x-coordinates and calculate the corresponding y-coordinates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altLang="en-US" dirty="0"/>
              <a:t>An equation of form F(</a:t>
            </a:r>
            <a:r>
              <a:rPr lang="en-US" altLang="en-US" dirty="0" err="1"/>
              <a:t>x,y</a:t>
            </a:r>
            <a:r>
              <a:rPr lang="en-US" altLang="en-US" dirty="0"/>
              <a:t>)=0 is more difficult to calculate so it can be expressed in parametric form that is convenient for calculations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273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Graphing a Spirograph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Courier New" panose="02070309020205020404" pitchFamily="49" charset="0"/>
              </a:rPr>
              <a:t>The parametric </a:t>
            </a:r>
            <a:r>
              <a:rPr lang="en-US" altLang="en-US" dirty="0" smtClean="0">
                <a:latin typeface="Times New Roman" panose="02020603050405020304" pitchFamily="18" charset="0"/>
                <a:cs typeface="Courier New" panose="02070309020205020404" pitchFamily="49" charset="0"/>
              </a:rPr>
              <a:t>equation for Spirograph:</a:t>
            </a:r>
            <a:endParaRPr lang="en-US" altLang="en-US" dirty="0"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graphicFrame>
        <p:nvGraphicFramePr>
          <p:cNvPr id="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936205"/>
              </p:ext>
            </p:extLst>
          </p:nvPr>
        </p:nvGraphicFramePr>
        <p:xfrm>
          <a:off x="4414684" y="3000580"/>
          <a:ext cx="605472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2260600" imgH="457200" progId="Equation.3">
                  <p:embed/>
                </p:oleObj>
              </mc:Choice>
              <mc:Fallback>
                <p:oleObj name="Equation" r:id="rId3" imgW="2260600" imgH="457200" progId="Equation.3">
                  <p:embed/>
                  <p:pic>
                    <p:nvPicPr>
                      <p:cNvPr id="39941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4684" y="3000580"/>
                        <a:ext cx="6054725" cy="1223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43000" y="4495800"/>
            <a:ext cx="2590800" cy="1015663"/>
          </a:xfrm>
          <a:prstGeom prst="rect">
            <a:avLst/>
          </a:prstGeom>
          <a:blipFill rotWithShape="1">
            <a:blip r:embed="rId5"/>
            <a:stretch>
              <a:fillRect l="-2588" t="-3012" b="-963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948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Graphing a Spirograph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1539" y="1959096"/>
            <a:ext cx="6007509" cy="43754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/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public void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paintComponent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(Graphics g){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super.paintComponent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(g);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Graphics g2=(Graphics)g;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g2.translate(200,200);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g2.setColor(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Color.blue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double r1=60, r2=50, p=70;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nPoints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=1000;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x1 =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)(r1+r2-p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y1 =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0;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x2;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y2;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=0;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nPoints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++){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double t=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Math.PI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/90;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x2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)((r1+r2)*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Math.cos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(t)-p*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Math.cos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((r1+r2)*t/r2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y2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)((r1+r2)*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Math.sin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(t)-p*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Math.sin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((r1+r2)*t/r2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g2.drawLine(x1,y1,x2,y2);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x1=x2;</a:t>
            </a:r>
          </a:p>
          <a:p>
            <a:pPr marL="457200" indent="-34290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y1=y2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492" y="2196330"/>
            <a:ext cx="3652756" cy="3900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943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Graphing a butterfly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" y="2121408"/>
            <a:ext cx="44608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s://upload.wikimedia.org/wikipedia/commons/thumb/2/2a/Butterfly_trans01.svg/300px-Butterfly_trans01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748" y="1887794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01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Graphing </a:t>
            </a:r>
            <a:r>
              <a:rPr lang="en-US" b="1" dirty="0" err="1" smtClean="0"/>
              <a:t>Lissajous</a:t>
            </a:r>
            <a:r>
              <a:rPr lang="en-US" b="1" dirty="0" smtClean="0"/>
              <a:t> curve</a:t>
            </a:r>
            <a:endParaRPr lang="en-US" dirty="0"/>
          </a:p>
        </p:txBody>
      </p:sp>
      <p:pic>
        <p:nvPicPr>
          <p:cNvPr id="4" name="Picture 2" descr="\begin{align}&#10;  x &amp;=  a\,\cos(k_xt) \\&#10;  y &amp;=  b\,\sin(k_yt)&#10;\end{align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517" y="3236976"/>
            <a:ext cx="25098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https://upload.wikimedia.org/wikipedia/commons/thumb/1/1f/Lissajous_curve_3by2.svg/600px-Lissajous_curve_3by2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517" y="2093976"/>
            <a:ext cx="3733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016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search the internet for fancy set of parametric equations.</a:t>
            </a:r>
            <a:endParaRPr lang="en-US" dirty="0"/>
          </a:p>
        </p:txBody>
      </p:sp>
      <p:pic>
        <p:nvPicPr>
          <p:cNvPr id="6146" name="Picture 2" descr="Parametric Equations – Life Through A Mathematician's Ey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050" y="3047807"/>
            <a:ext cx="3780299" cy="357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arametric Equations – Life Through A Mathematician's Ey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753" y="3262107"/>
            <a:ext cx="4538168" cy="359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arametric Equations – Life Through A Mathematician's Ey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49051"/>
            <a:ext cx="3359969" cy="359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186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68</TotalTime>
  <Words>938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Courier New</vt:lpstr>
      <vt:lpstr>Monotype Sorts</vt:lpstr>
      <vt:lpstr>Rockwell</vt:lpstr>
      <vt:lpstr>Rockwell Condensed</vt:lpstr>
      <vt:lpstr>Times New Roman</vt:lpstr>
      <vt:lpstr>Wingdings</vt:lpstr>
      <vt:lpstr>Wood Type</vt:lpstr>
      <vt:lpstr>Microsoft Word Picture</vt:lpstr>
      <vt:lpstr>Microsoft Equation 3.0</vt:lpstr>
      <vt:lpstr>Basics of 2D geometric objects</vt:lpstr>
      <vt:lpstr>objectives</vt:lpstr>
      <vt:lpstr>Basics of 2D geometric objects</vt:lpstr>
      <vt:lpstr>Rendering Pipeline</vt:lpstr>
      <vt:lpstr>2D Coordinate System</vt:lpstr>
      <vt:lpstr>Line</vt:lpstr>
      <vt:lpstr>Circle and ellipse</vt:lpstr>
      <vt:lpstr>Parametric equations</vt:lpstr>
      <vt:lpstr>Spaces</vt:lpstr>
      <vt:lpstr>spaces</vt:lpstr>
      <vt:lpstr>The Java Graphics2D Class</vt:lpstr>
      <vt:lpstr>The Graphics2D Class</vt:lpstr>
      <vt:lpstr>Graphics and 2D Graphics</vt:lpstr>
      <vt:lpstr>Graphics and 2D Graphics</vt:lpstr>
      <vt:lpstr>Graphing equations</vt:lpstr>
      <vt:lpstr>Graphing a Spirograph</vt:lpstr>
      <vt:lpstr>Graphing a Spirograph</vt:lpstr>
      <vt:lpstr>Graphing a butterfly</vt:lpstr>
      <vt:lpstr>Graphing Lissajous curve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Windows User</dc:creator>
  <cp:lastModifiedBy>Windows User</cp:lastModifiedBy>
  <cp:revision>9</cp:revision>
  <dcterms:created xsi:type="dcterms:W3CDTF">2023-09-06T06:11:38Z</dcterms:created>
  <dcterms:modified xsi:type="dcterms:W3CDTF">2023-09-06T11:44:48Z</dcterms:modified>
</cp:coreProperties>
</file>