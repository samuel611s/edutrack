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4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34909-7335-4D3D-8127-B4BA2A42DD8B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A621C35B-3D07-4F3F-90F8-69FFF8D34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518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34909-7335-4D3D-8127-B4BA2A42DD8B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1C35B-3D07-4F3F-90F8-69FFF8D34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635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BA334909-7335-4D3D-8127-B4BA2A42DD8B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A621C35B-3D07-4F3F-90F8-69FFF8D34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35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34909-7335-4D3D-8127-B4BA2A42DD8B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1C35B-3D07-4F3F-90F8-69FFF8D34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988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34909-7335-4D3D-8127-B4BA2A42DD8B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1C35B-3D07-4F3F-90F8-69FFF8D34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72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34909-7335-4D3D-8127-B4BA2A42DD8B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1C35B-3D07-4F3F-90F8-69FFF8D34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809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34909-7335-4D3D-8127-B4BA2A42DD8B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1C35B-3D07-4F3F-90F8-69FFF8D34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091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34909-7335-4D3D-8127-B4BA2A42DD8B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1C35B-3D07-4F3F-90F8-69FFF8D34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232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34909-7335-4D3D-8127-B4BA2A42DD8B}" type="datetimeFigureOut">
              <a:rPr lang="en-US" smtClean="0"/>
              <a:t>9/19/2023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1C35B-3D07-4F3F-90F8-69FFF8D34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080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34909-7335-4D3D-8127-B4BA2A42DD8B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1C35B-3D07-4F3F-90F8-69FFF8D34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834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34909-7335-4D3D-8127-B4BA2A42DD8B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1C35B-3D07-4F3F-90F8-69FFF8D34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847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BA334909-7335-4D3D-8127-B4BA2A42DD8B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A621C35B-3D07-4F3F-90F8-69FFF8D34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554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1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745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cs typeface="Times New Roman" panose="02020603050405020304" pitchFamily="18" charset="0"/>
              </a:rPr>
              <a:t>To understand the basic objectives and scope of computer graphics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To identify computer graphics applications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To understand the basic structures of 2D and 3D graphics systems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To understand evolution of graphics programming environments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To identify common graphics APIs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To understand the roles of Java language, Java 2D and Java 3D </a:t>
            </a:r>
            <a:r>
              <a:rPr lang="en-US" altLang="en-US" dirty="0" smtClean="0">
                <a:cs typeface="Times New Roman" panose="02020603050405020304" pitchFamily="18" charset="0"/>
              </a:rPr>
              <a:t>packages</a:t>
            </a:r>
          </a:p>
          <a:p>
            <a:r>
              <a:rPr lang="en-US" altLang="en-US" dirty="0" smtClean="0">
                <a:cs typeface="Times New Roman" panose="02020603050405020304" pitchFamily="18" charset="0"/>
              </a:rPr>
              <a:t>To present a basic graphics skeleton with Java.</a:t>
            </a:r>
            <a:endParaRPr lang="en-US" altLang="en-US" dirty="0">
              <a:cs typeface="Times New Roman" panose="02020603050405020304" pitchFamily="18" charset="0"/>
            </a:endParaRPr>
          </a:p>
          <a:p>
            <a:r>
              <a:rPr lang="en-US" altLang="en-US" dirty="0">
                <a:cs typeface="Times New Roman" panose="02020603050405020304" pitchFamily="18" charset="0"/>
              </a:rPr>
              <a:t>To identify computer graphics related </a:t>
            </a:r>
            <a:r>
              <a:rPr lang="en-US" altLang="en-US" dirty="0" smtClean="0">
                <a:cs typeface="Times New Roman" panose="02020603050405020304" pitchFamily="18" charset="0"/>
              </a:rPr>
              <a:t>fields</a:t>
            </a:r>
            <a:endParaRPr lang="en-US" alt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204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Computer graphics provides methods to </a:t>
            </a:r>
            <a:r>
              <a:rPr lang="en-US" altLang="en-US" u="sng" dirty="0"/>
              <a:t>generate</a:t>
            </a:r>
            <a:r>
              <a:rPr lang="en-US" altLang="en-US" dirty="0"/>
              <a:t> images using a computer. </a:t>
            </a:r>
          </a:p>
          <a:p>
            <a:r>
              <a:rPr lang="en-US" altLang="en-US" dirty="0"/>
              <a:t>An image can represent a realistic scene from the real world, but graphics like histograms or pie charts as well as the graphical user interface of a software tool are also considered as images</a:t>
            </a:r>
            <a:r>
              <a:rPr lang="en-US" altLang="en-US" dirty="0" smtClean="0"/>
              <a:t>.</a:t>
            </a:r>
          </a:p>
          <a:p>
            <a:r>
              <a:rPr lang="en-US" dirty="0" smtClean="0"/>
              <a:t>Computer graphics applications cover:</a:t>
            </a:r>
          </a:p>
          <a:p>
            <a:pPr lvl="1"/>
            <a:r>
              <a:rPr lang="en-US" altLang="en-US" dirty="0"/>
              <a:t>Graphical user </a:t>
            </a:r>
            <a:r>
              <a:rPr lang="en-US" altLang="en-US" dirty="0" smtClean="0"/>
              <a:t>interfaces (GUIs) </a:t>
            </a:r>
            <a:endParaRPr lang="en-US" altLang="en-US" dirty="0"/>
          </a:p>
          <a:p>
            <a:pPr lvl="1"/>
            <a:r>
              <a:rPr lang="en-US" altLang="en-US" dirty="0" err="1"/>
              <a:t>Visualising</a:t>
            </a:r>
            <a:r>
              <a:rPr lang="en-US" altLang="en-US" dirty="0"/>
              <a:t> high-dimensional data</a:t>
            </a:r>
          </a:p>
          <a:p>
            <a:pPr lvl="1"/>
            <a:r>
              <a:rPr lang="en-US" altLang="en-US" dirty="0"/>
              <a:t>Generation of realistic images and sequences of images</a:t>
            </a:r>
          </a:p>
          <a:p>
            <a:pPr lvl="1"/>
            <a:r>
              <a:rPr lang="en-US" altLang="en-US" dirty="0"/>
              <a:t>Designing, modelling and </a:t>
            </a:r>
            <a:r>
              <a:rPr lang="en-US" altLang="en-US" dirty="0" err="1"/>
              <a:t>visualising</a:t>
            </a:r>
            <a:r>
              <a:rPr lang="en-US" altLang="en-US" dirty="0"/>
              <a:t> objects</a:t>
            </a:r>
          </a:p>
          <a:p>
            <a:pPr lvl="1"/>
            <a:r>
              <a:rPr lang="en-US" altLang="en-US" dirty="0"/>
              <a:t>The combination of real data and images with techniques from computer graphics will probably gain more importance than it has today</a:t>
            </a:r>
            <a:r>
              <a:rPr lang="en-US" altLang="en-US" dirty="0" smtClean="0"/>
              <a:t>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29180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From real scene to an image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The </a:t>
            </a:r>
            <a:r>
              <a:rPr lang="en-US" altLang="en-US" dirty="0"/>
              <a:t>objects in the scene have to be </a:t>
            </a:r>
            <a:r>
              <a:rPr lang="en-US" altLang="en-US" u="sng" dirty="0"/>
              <a:t>modelled</a:t>
            </a:r>
            <a:r>
              <a:rPr lang="en-US" altLang="en-US" dirty="0"/>
              <a:t> with the techniques and methods provided by a computer graphics tool.</a:t>
            </a:r>
          </a:p>
          <a:p>
            <a:r>
              <a:rPr lang="en-US" altLang="en-US" u="sng" dirty="0" smtClean="0"/>
              <a:t>Approximation</a:t>
            </a:r>
            <a:r>
              <a:rPr lang="en-US" altLang="en-US" dirty="0" smtClean="0"/>
              <a:t> </a:t>
            </a:r>
            <a:r>
              <a:rPr lang="en-US" altLang="en-US" dirty="0"/>
              <a:t>by assuming that the computer graphics tool is very restricted and the bowl in the real scene can only be approximated by a </a:t>
            </a:r>
            <a:r>
              <a:rPr lang="en-US" altLang="en-US" dirty="0" smtClean="0"/>
              <a:t>semi-sphere</a:t>
            </a:r>
            <a:r>
              <a:rPr lang="en-US" altLang="en-US" dirty="0"/>
              <a:t>.</a:t>
            </a:r>
          </a:p>
          <a:p>
            <a:r>
              <a:rPr lang="en-US" altLang="en-US" u="sng" dirty="0" smtClean="0"/>
              <a:t>Projection</a:t>
            </a:r>
            <a:r>
              <a:rPr lang="en-US" altLang="en-US" dirty="0" smtClean="0"/>
              <a:t> </a:t>
            </a:r>
            <a:r>
              <a:rPr lang="en-US" altLang="en-US" dirty="0"/>
              <a:t>from 2D to 3D</a:t>
            </a:r>
          </a:p>
          <a:p>
            <a:r>
              <a:rPr lang="en-US" altLang="en-US" u="sng" dirty="0" smtClean="0"/>
              <a:t>Clipping</a:t>
            </a:r>
            <a:r>
              <a:rPr lang="en-US" altLang="en-US" dirty="0"/>
              <a:t>, The whole process of generating a pixel image from a three-dimensional</a:t>
            </a:r>
            <a:br>
              <a:rPr lang="en-US" altLang="en-US" dirty="0"/>
            </a:br>
            <a:r>
              <a:rPr lang="en-US" altLang="en-US" dirty="0"/>
              <a:t>virtual scene is called </a:t>
            </a:r>
            <a:r>
              <a:rPr lang="en-US" altLang="en-US" i="1" dirty="0"/>
              <a:t>rendering</a:t>
            </a:r>
            <a:r>
              <a:rPr lang="en-US" altLang="en-US" dirty="0"/>
              <a:t>. </a:t>
            </a:r>
            <a:br>
              <a:rPr lang="en-US" altLang="en-US" dirty="0"/>
            </a:br>
            <a:endParaRPr lang="en-US" altLang="en-US" dirty="0"/>
          </a:p>
          <a:p>
            <a:endParaRPr lang="en-US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14" b="13815"/>
          <a:stretch/>
        </p:blipFill>
        <p:spPr bwMode="auto">
          <a:xfrm>
            <a:off x="2605548" y="4679256"/>
            <a:ext cx="7564618" cy="2178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8652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Computer graphics main tasks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US" altLang="en-US" dirty="0">
                <a:cs typeface="Times New Roman" panose="02020603050405020304" pitchFamily="18" charset="0"/>
              </a:rPr>
              <a:t>Main tasks of computer graphics: modeling a virtual world and rendering a scene </a:t>
            </a:r>
          </a:p>
          <a:p>
            <a:pPr>
              <a:spcBef>
                <a:spcPct val="50000"/>
              </a:spcBef>
            </a:pPr>
            <a:r>
              <a:rPr lang="en-US" altLang="en-US" u="sng" dirty="0"/>
              <a:t>Modeling: </a:t>
            </a:r>
            <a:r>
              <a:rPr lang="en-US" altLang="en-US" dirty="0">
                <a:cs typeface="Times New Roman" panose="02020603050405020304" pitchFamily="18" charset="0"/>
              </a:rPr>
              <a:t>Creating a virtual world.</a:t>
            </a:r>
          </a:p>
          <a:p>
            <a:pPr>
              <a:spcBef>
                <a:spcPct val="50000"/>
              </a:spcBef>
            </a:pPr>
            <a:r>
              <a:rPr lang="en-US" altLang="en-US" u="sng" dirty="0"/>
              <a:t>Rendering: </a:t>
            </a:r>
            <a:r>
              <a:rPr lang="en-US" altLang="en-US" dirty="0">
                <a:cs typeface="Times New Roman" panose="02020603050405020304" pitchFamily="18" charset="0"/>
              </a:rPr>
              <a:t>Generating a visual image of a scene.</a:t>
            </a:r>
            <a:endParaRPr lang="en-US" altLang="en-US" dirty="0"/>
          </a:p>
          <a:p>
            <a:endParaRPr lang="en-US" dirty="0"/>
          </a:p>
        </p:txBody>
      </p:sp>
      <p:graphicFrame>
        <p:nvGraphicFramePr>
          <p:cNvPr id="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3978580"/>
              </p:ext>
            </p:extLst>
          </p:nvPr>
        </p:nvGraphicFramePr>
        <p:xfrm>
          <a:off x="2354826" y="3614534"/>
          <a:ext cx="8077200" cy="315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Picture" r:id="rId3" imgW="4905756" imgH="1810512" progId="Word.Picture.8">
                  <p:embed/>
                </p:oleObj>
              </mc:Choice>
              <mc:Fallback>
                <p:oleObj name="Picture" r:id="rId3" imgW="4905756" imgH="1810512" progId="Word.Picture.8">
                  <p:embed/>
                  <p:pic>
                    <p:nvPicPr>
                      <p:cNvPr id="1126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4826" y="3614534"/>
                        <a:ext cx="8077200" cy="31575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456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Computer graphics- modeling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1357" y="1708453"/>
            <a:ext cx="10058400" cy="4050792"/>
          </a:xfrm>
        </p:spPr>
        <p:txBody>
          <a:bodyPr/>
          <a:lstStyle/>
          <a:p>
            <a:r>
              <a:rPr lang="en-US" dirty="0" smtClean="0"/>
              <a:t>A common modelling primitive is a polygon.</a:t>
            </a:r>
          </a:p>
          <a:p>
            <a:r>
              <a:rPr lang="en-US" dirty="0" smtClean="0"/>
              <a:t>A polygon is a simple geometric shape that is defined with a list of vertices.</a:t>
            </a:r>
          </a:p>
          <a:p>
            <a:r>
              <a:rPr lang="en-US" dirty="0" smtClean="0"/>
              <a:t>It is very powerful primitive.</a:t>
            </a:r>
          </a:p>
          <a:p>
            <a:r>
              <a:rPr lang="en-US" altLang="en-US" dirty="0"/>
              <a:t>Many shapes can be stored as a list of polygons in terms of vertex list.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08722" y="3833344"/>
            <a:ext cx="4904429" cy="3024656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15" y="3317796"/>
            <a:ext cx="5601588" cy="3540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403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graphics-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Shapeless objects –curtains, hair, fire… are commonly modeled with splines rather than polygons.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3295650"/>
            <a:ext cx="3067050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260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Modeling-level </a:t>
            </a:r>
            <a:r>
              <a:rPr lang="en-US" dirty="0"/>
              <a:t>of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121408"/>
            <a:ext cx="7238410" cy="4050792"/>
          </a:xfrm>
        </p:spPr>
        <p:txBody>
          <a:bodyPr/>
          <a:lstStyle/>
          <a:p>
            <a:r>
              <a:rPr lang="en-US" dirty="0" smtClean="0"/>
              <a:t>There are always several approximations for a shape depending on the application. </a:t>
            </a:r>
          </a:p>
          <a:p>
            <a:r>
              <a:rPr lang="en-US" dirty="0" smtClean="0"/>
              <a:t>The process of reducing </a:t>
            </a:r>
            <a:r>
              <a:rPr lang="en-US" dirty="0"/>
              <a:t>the complexity(number of polygons) of the scene in order to improve frame </a:t>
            </a:r>
            <a:r>
              <a:rPr lang="en-US" dirty="0" smtClean="0"/>
              <a:t>rate is called approximation.</a:t>
            </a:r>
            <a:endParaRPr lang="en-US" dirty="0"/>
          </a:p>
        </p:txBody>
      </p:sp>
      <p:pic>
        <p:nvPicPr>
          <p:cNvPr id="4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413955" y="3000375"/>
            <a:ext cx="365125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390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Computer graphics –common vocabulary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Graphics objects to be modeled are in either a 2D or a 3D space.</a:t>
            </a:r>
          </a:p>
          <a:p>
            <a:pPr>
              <a:defRPr/>
            </a:pPr>
            <a:r>
              <a:rPr lang="en-US" altLang="en-US" dirty="0"/>
              <a:t>This common space to host all the graphic objects is often called the </a:t>
            </a:r>
            <a:r>
              <a:rPr lang="en-US" altLang="en-US" u="sng" dirty="0"/>
              <a:t>world space</a:t>
            </a:r>
          </a:p>
          <a:p>
            <a:pPr>
              <a:defRPr/>
            </a:pPr>
            <a:r>
              <a:rPr lang="en-US" altLang="en-US" dirty="0"/>
              <a:t>The graphics objects to be modeled in a world space are usually geometric entities such as lines and surfaces, but they also include other special objects such as lights, texts and images</a:t>
            </a:r>
          </a:p>
          <a:p>
            <a:pPr>
              <a:defRPr/>
            </a:pPr>
            <a:r>
              <a:rPr lang="en-US" altLang="en-US" dirty="0"/>
              <a:t>The graphics objects may possess many characteristics and properties such as </a:t>
            </a:r>
            <a:r>
              <a:rPr lang="en-US" altLang="en-US" u="sng" dirty="0"/>
              <a:t>color</a:t>
            </a:r>
            <a:r>
              <a:rPr lang="en-US" altLang="en-US" dirty="0"/>
              <a:t>, </a:t>
            </a:r>
            <a:r>
              <a:rPr lang="en-US" altLang="en-US" u="sng" dirty="0"/>
              <a:t>transparency</a:t>
            </a:r>
            <a:r>
              <a:rPr lang="en-US" altLang="en-US" dirty="0"/>
              <a:t> and </a:t>
            </a:r>
            <a:r>
              <a:rPr lang="en-US" altLang="en-US" u="sng" dirty="0"/>
              <a:t>texture</a:t>
            </a:r>
            <a:r>
              <a:rPr lang="en-US" altLang="en-US" dirty="0"/>
              <a:t>.</a:t>
            </a:r>
          </a:p>
          <a:p>
            <a:pPr>
              <a:defRPr/>
            </a:pPr>
            <a:r>
              <a:rPr lang="en-US" u="sng" dirty="0"/>
              <a:t>Modeler</a:t>
            </a:r>
            <a:r>
              <a:rPr lang="en-US" dirty="0"/>
              <a:t> is responsible for the construction of virtual world models</a:t>
            </a:r>
          </a:p>
          <a:p>
            <a:pPr>
              <a:defRPr/>
            </a:pPr>
            <a:r>
              <a:rPr lang="en-US" u="sng" dirty="0"/>
              <a:t>Renderer</a:t>
            </a:r>
            <a:r>
              <a:rPr lang="en-US" dirty="0"/>
              <a:t> perform the rendering of the scene</a:t>
            </a:r>
          </a:p>
          <a:p>
            <a:pPr>
              <a:defRPr/>
            </a:pPr>
            <a:r>
              <a:rPr lang="en-US" i="1" u="sng" dirty="0"/>
              <a:t>Object transformations </a:t>
            </a:r>
            <a:r>
              <a:rPr lang="en-US" dirty="0"/>
              <a:t>are geometric transformations applied to the objects to achieve the proper placement of the objects in the virtual space</a:t>
            </a:r>
          </a:p>
          <a:p>
            <a:pPr>
              <a:buFontTx/>
              <a:buChar char="-"/>
            </a:pPr>
            <a:endParaRPr lang="en-US" altLang="en-US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035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graphics –common vocabulary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defRPr/>
            </a:pPr>
            <a:r>
              <a:rPr lang="en-US" u="sng" dirty="0"/>
              <a:t>Object transformat</a:t>
            </a:r>
            <a:r>
              <a:rPr lang="en-US" dirty="0"/>
              <a:t>ion is the mapping of  the object spaces into world space that is common coordinate reference system for all objects. </a:t>
            </a:r>
          </a:p>
          <a:p>
            <a:pPr algn="just">
              <a:defRPr/>
            </a:pPr>
            <a:r>
              <a:rPr lang="en-US" u="sng" dirty="0"/>
              <a:t>Viewing transformation </a:t>
            </a:r>
            <a:r>
              <a:rPr lang="en-US" dirty="0"/>
              <a:t>is the transformation from the world space to device space</a:t>
            </a:r>
          </a:p>
          <a:p>
            <a:pPr algn="just">
              <a:defRPr/>
            </a:pPr>
            <a:r>
              <a:rPr lang="en-US" dirty="0"/>
              <a:t>A useful family of the geometric transforms is the affine transforms which include the most common types such as a translation, rotations, scaling and </a:t>
            </a:r>
            <a:r>
              <a:rPr lang="en-US" dirty="0" smtClean="0"/>
              <a:t>reflections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13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Graphics: 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sz="2400" dirty="0"/>
              <a:t>A </a:t>
            </a:r>
            <a:r>
              <a:rPr lang="en-US" altLang="en-US" sz="2400" u="sng" dirty="0"/>
              <a:t>view</a:t>
            </a:r>
            <a:r>
              <a:rPr lang="en-US" altLang="en-US" sz="2400" dirty="0"/>
              <a:t> is used to see the model in the virtual world from a specific perspective</a:t>
            </a:r>
          </a:p>
          <a:p>
            <a:r>
              <a:rPr lang="en-US" altLang="en-US" sz="2400" dirty="0"/>
              <a:t> 2D view</a:t>
            </a:r>
          </a:p>
          <a:p>
            <a:pPr lvl="1">
              <a:buFontTx/>
              <a:buChar char="-"/>
            </a:pPr>
            <a:r>
              <a:rPr lang="en-US" altLang="en-US" sz="2400" dirty="0"/>
              <a:t>Relatively </a:t>
            </a:r>
            <a:r>
              <a:rPr lang="en-US" altLang="en-US" sz="2400" i="1" dirty="0"/>
              <a:t>simple</a:t>
            </a:r>
          </a:p>
          <a:p>
            <a:pPr lvl="1">
              <a:buFontTx/>
              <a:buChar char="-"/>
            </a:pPr>
            <a:r>
              <a:rPr lang="en-US" altLang="en-US" sz="2400" i="1" dirty="0"/>
              <a:t>Viewing transformation </a:t>
            </a:r>
            <a:r>
              <a:rPr lang="en-US" altLang="en-US" sz="2400" dirty="0"/>
              <a:t>is indistinguishable from the </a:t>
            </a:r>
            <a:r>
              <a:rPr lang="en-US" altLang="en-US" sz="2400" i="1" dirty="0"/>
              <a:t>object transformation</a:t>
            </a:r>
          </a:p>
          <a:p>
            <a:pPr lvl="1">
              <a:buFontTx/>
              <a:buChar char="-"/>
            </a:pPr>
            <a:r>
              <a:rPr lang="en-US" altLang="en-US" sz="2400" i="1" dirty="0"/>
              <a:t>Rendering</a:t>
            </a:r>
            <a:r>
              <a:rPr lang="en-US" altLang="en-US" sz="2400" dirty="0"/>
              <a:t> features such as composition rules and clipping path may be applied</a:t>
            </a:r>
          </a:p>
          <a:p>
            <a:r>
              <a:rPr lang="en-US" altLang="en-US" sz="2400" dirty="0"/>
              <a:t>3D view</a:t>
            </a:r>
          </a:p>
          <a:p>
            <a:pPr lvl="1">
              <a:buFontTx/>
              <a:buChar char="-"/>
            </a:pPr>
            <a:r>
              <a:rPr lang="en-US" altLang="en-US" sz="2400" dirty="0"/>
              <a:t>More </a:t>
            </a:r>
            <a:r>
              <a:rPr lang="en-US" altLang="en-US" sz="2400" i="1" dirty="0"/>
              <a:t>complicated</a:t>
            </a:r>
          </a:p>
          <a:p>
            <a:pPr lvl="1">
              <a:buFontTx/>
              <a:buChar char="-"/>
            </a:pPr>
            <a:r>
              <a:rPr lang="en-US" altLang="en-US" sz="2400" dirty="0"/>
              <a:t>Like eyes or </a:t>
            </a:r>
            <a:r>
              <a:rPr lang="en-US" altLang="en-US" sz="2400" i="1" dirty="0"/>
              <a:t>cameras</a:t>
            </a:r>
          </a:p>
          <a:p>
            <a:pPr lvl="1">
              <a:buFontTx/>
              <a:buChar char="-"/>
            </a:pPr>
            <a:r>
              <a:rPr lang="en-US" altLang="en-US" sz="2400" dirty="0"/>
              <a:t>Involves a </a:t>
            </a:r>
            <a:r>
              <a:rPr lang="en-US" altLang="en-US" sz="2400" i="1" dirty="0"/>
              <a:t>projection</a:t>
            </a:r>
            <a:r>
              <a:rPr lang="en-US" altLang="en-US" sz="2400" dirty="0"/>
              <a:t> process that maps 3d objects to a 2D plane</a:t>
            </a:r>
          </a:p>
          <a:p>
            <a:pPr lvl="1">
              <a:buFontTx/>
              <a:buChar char="-"/>
            </a:pPr>
            <a:r>
              <a:rPr lang="en-US" altLang="en-US" sz="2400" dirty="0"/>
              <a:t>Projection, view position, orientation, and field of view could affect the 3D </a:t>
            </a:r>
            <a:r>
              <a:rPr lang="en-US" altLang="en-US" sz="2400" dirty="0" smtClean="0"/>
              <a:t>rendering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36015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Graphics:    Hardware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sz="2800" dirty="0"/>
              <a:t>The capabilities and characteristics of hardware devices have a great impact on graphics systems</a:t>
            </a:r>
          </a:p>
          <a:p>
            <a:pPr marL="640080" lvl="1">
              <a:spcAft>
                <a:spcPts val="0"/>
              </a:spcAft>
              <a:defRPr/>
            </a:pPr>
            <a:r>
              <a:rPr lang="en-US" sz="2800" dirty="0"/>
              <a:t>Output devices for displaying the results of the graphics rendering like</a:t>
            </a:r>
          </a:p>
          <a:p>
            <a:pPr marL="1005840" lvl="2"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2800" dirty="0"/>
              <a:t>Video monitors</a:t>
            </a:r>
          </a:p>
          <a:p>
            <a:pPr marL="1005840" lvl="2"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2800" dirty="0"/>
              <a:t>Printers</a:t>
            </a:r>
          </a:p>
          <a:p>
            <a:pPr marL="1005840" lvl="2"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2800" dirty="0"/>
              <a:t>Plotters</a:t>
            </a:r>
          </a:p>
          <a:p>
            <a:pPr marL="640080" lvl="1">
              <a:spcAft>
                <a:spcPts val="0"/>
              </a:spcAft>
              <a:defRPr/>
            </a:pPr>
            <a:r>
              <a:rPr lang="en-US" sz="2800" dirty="0"/>
              <a:t>Input devices</a:t>
            </a:r>
          </a:p>
          <a:p>
            <a:pPr marL="1005840" lvl="2"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2800" dirty="0"/>
              <a:t>Mice</a:t>
            </a:r>
          </a:p>
          <a:p>
            <a:pPr marL="1005840" lvl="2"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2800" dirty="0"/>
              <a:t>Joysticks</a:t>
            </a:r>
          </a:p>
          <a:p>
            <a:pPr marL="1005840" lvl="2"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sz="2800" dirty="0"/>
              <a:t>Tablets with </a:t>
            </a:r>
            <a:r>
              <a:rPr lang="en-US" sz="2800" dirty="0" smtClean="0"/>
              <a:t>pens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90398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Graphics:    Animation and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en-US" sz="2400" u="sng" dirty="0"/>
              <a:t>Animation</a:t>
            </a:r>
          </a:p>
          <a:p>
            <a:pPr lvl="1"/>
            <a:r>
              <a:rPr lang="en-US" altLang="en-US" sz="2400" dirty="0"/>
              <a:t>Animation is an important part in computer graphics</a:t>
            </a:r>
          </a:p>
          <a:p>
            <a:pPr lvl="1"/>
            <a:r>
              <a:rPr lang="en-US" altLang="en-US" sz="2400" dirty="0"/>
              <a:t>Instead of still images, animation produces dynamic graphics contents and rendering</a:t>
            </a:r>
          </a:p>
          <a:p>
            <a:pPr lvl="1"/>
            <a:r>
              <a:rPr lang="en-US" altLang="en-US" sz="2400" dirty="0"/>
              <a:t>Animations plays an important rule in applications such as a movie-scene rendering and gaming</a:t>
            </a:r>
          </a:p>
          <a:p>
            <a:r>
              <a:rPr lang="en-US" altLang="en-US" sz="2400" u="sng" dirty="0"/>
              <a:t>Interaction</a:t>
            </a:r>
          </a:p>
          <a:p>
            <a:pPr lvl="1"/>
            <a:r>
              <a:rPr lang="en-US" altLang="en-US" sz="2400" dirty="0"/>
              <a:t>In response to user inputs, the graphics model may change accordingly</a:t>
            </a:r>
          </a:p>
          <a:p>
            <a:pPr lvl="1"/>
            <a:r>
              <a:rPr lang="en-US" altLang="en-US" sz="2400" dirty="0"/>
              <a:t>The fundamental principle of GUI is based on the user interactions with graphics systems</a:t>
            </a:r>
          </a:p>
          <a:p>
            <a:pPr lvl="1"/>
            <a:r>
              <a:rPr lang="en-US" altLang="en-US" sz="2400" dirty="0"/>
              <a:t>Another example of extensive application of interaction is video </a:t>
            </a:r>
            <a:r>
              <a:rPr lang="en-US" altLang="en-US" sz="2400" dirty="0" smtClean="0"/>
              <a:t>games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57496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Programming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ct val="0"/>
              </a:spcBef>
              <a:buClrTx/>
            </a:pPr>
            <a:r>
              <a:rPr lang="en-US" altLang="en-US" dirty="0">
                <a:latin typeface="Times New Roman" panose="02020603050405020304" pitchFamily="18" charset="0"/>
              </a:rPr>
              <a:t>Graphics programming has appeared in almost every level of computer architecture</a:t>
            </a:r>
          </a:p>
          <a:p>
            <a:pPr algn="just">
              <a:spcBef>
                <a:spcPct val="0"/>
              </a:spcBef>
              <a:buClrTx/>
            </a:pPr>
            <a:r>
              <a:rPr lang="en-US" altLang="en-US" dirty="0">
                <a:latin typeface="Times New Roman" panose="02020603050405020304" pitchFamily="18" charset="0"/>
              </a:rPr>
              <a:t>It is moving from </a:t>
            </a:r>
            <a:r>
              <a:rPr lang="en-US" altLang="en-US" i="1" dirty="0">
                <a:latin typeface="Times New Roman" panose="02020603050405020304" pitchFamily="18" charset="0"/>
              </a:rPr>
              <a:t>low-level,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i="1" dirty="0">
                <a:latin typeface="Times New Roman" panose="02020603050405020304" pitchFamily="18" charset="0"/>
              </a:rPr>
              <a:t>platform-dependent </a:t>
            </a:r>
            <a:r>
              <a:rPr lang="en-US" altLang="en-US" dirty="0">
                <a:latin typeface="Times New Roman" panose="02020603050405020304" pitchFamily="18" charset="0"/>
              </a:rPr>
              <a:t>methods toward </a:t>
            </a:r>
            <a:r>
              <a:rPr lang="en-US" altLang="en-US" i="1" dirty="0">
                <a:latin typeface="Times New Roman" panose="02020603050405020304" pitchFamily="18" charset="0"/>
              </a:rPr>
              <a:t>abstract</a:t>
            </a:r>
            <a:r>
              <a:rPr lang="en-US" altLang="en-US" dirty="0">
                <a:latin typeface="Times New Roman" panose="02020603050405020304" pitchFamily="18" charset="0"/>
              </a:rPr>
              <a:t>, </a:t>
            </a:r>
            <a:r>
              <a:rPr lang="en-US" altLang="en-US" i="1" dirty="0">
                <a:latin typeface="Times New Roman" panose="02020603050405020304" pitchFamily="18" charset="0"/>
              </a:rPr>
              <a:t>high level</a:t>
            </a:r>
            <a:r>
              <a:rPr lang="en-US" altLang="en-US" dirty="0">
                <a:latin typeface="Times New Roman" panose="02020603050405020304" pitchFamily="18" charset="0"/>
              </a:rPr>
              <a:t>, and </a:t>
            </a:r>
            <a:r>
              <a:rPr lang="en-US" altLang="en-US" i="1" dirty="0">
                <a:latin typeface="Times New Roman" panose="02020603050405020304" pitchFamily="18" charset="0"/>
              </a:rPr>
              <a:t>portable environments</a:t>
            </a:r>
          </a:p>
          <a:p>
            <a:endParaRPr lang="en-US" dirty="0"/>
          </a:p>
        </p:txBody>
      </p:sp>
      <p:grpSp>
        <p:nvGrpSpPr>
          <p:cNvPr id="5" name="Group 53"/>
          <p:cNvGrpSpPr>
            <a:grpSpLocks/>
          </p:cNvGrpSpPr>
          <p:nvPr/>
        </p:nvGrpSpPr>
        <p:grpSpPr bwMode="auto">
          <a:xfrm>
            <a:off x="4279490" y="3672758"/>
            <a:ext cx="5943600" cy="1752600"/>
            <a:chOff x="3960" y="5400"/>
            <a:chExt cx="4680" cy="1440"/>
          </a:xfrm>
        </p:grpSpPr>
        <p:sp>
          <p:nvSpPr>
            <p:cNvPr id="6" name="Text Box 54"/>
            <p:cNvSpPr txBox="1">
              <a:spLocks noChangeArrowheads="1"/>
            </p:cNvSpPr>
            <p:nvPr/>
          </p:nvSpPr>
          <p:spPr bwMode="auto">
            <a:xfrm>
              <a:off x="3960" y="6480"/>
              <a:ext cx="468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/>
                <a:t>Hardware (direct register/video buffer  programming)</a:t>
              </a:r>
            </a:p>
          </p:txBody>
        </p:sp>
        <p:sp>
          <p:nvSpPr>
            <p:cNvPr id="7" name="Text Box 55"/>
            <p:cNvSpPr txBox="1">
              <a:spLocks noChangeArrowheads="1"/>
            </p:cNvSpPr>
            <p:nvPr/>
          </p:nvSpPr>
          <p:spPr bwMode="auto">
            <a:xfrm>
              <a:off x="3960" y="6120"/>
              <a:ext cx="468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/>
                <a:t>OS (WIN32, X, Mac OS)</a:t>
              </a:r>
            </a:p>
          </p:txBody>
        </p:sp>
        <p:sp>
          <p:nvSpPr>
            <p:cNvPr id="8" name="Text Box 56"/>
            <p:cNvSpPr txBox="1">
              <a:spLocks noChangeArrowheads="1"/>
            </p:cNvSpPr>
            <p:nvPr/>
          </p:nvSpPr>
          <p:spPr bwMode="auto">
            <a:xfrm>
              <a:off x="3960" y="5760"/>
              <a:ext cx="468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/>
                <a:t>Graphics Standard (GKS, PHIGS, OpenGL)</a:t>
              </a:r>
            </a:p>
          </p:txBody>
        </p:sp>
        <p:sp>
          <p:nvSpPr>
            <p:cNvPr id="9" name="Text Box 57"/>
            <p:cNvSpPr txBox="1">
              <a:spLocks noChangeArrowheads="1"/>
            </p:cNvSpPr>
            <p:nvPr/>
          </p:nvSpPr>
          <p:spPr bwMode="auto">
            <a:xfrm>
              <a:off x="3960" y="5400"/>
              <a:ext cx="468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 dirty="0"/>
                <a:t>Platform Independent (Java 3D)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4816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Programming </a:t>
            </a:r>
            <a:r>
              <a:rPr lang="en-US" dirty="0" smtClean="0"/>
              <a:t>Environment –hardware level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Program the graphics hardware directly</a:t>
            </a:r>
          </a:p>
          <a:p>
            <a:r>
              <a:rPr lang="en-US" altLang="en-US" dirty="0"/>
              <a:t>Typically written in low-level languages </a:t>
            </a:r>
          </a:p>
          <a:p>
            <a:r>
              <a:rPr lang="en-US" altLang="en-US" dirty="0"/>
              <a:t>Written in assembly language and manipulate the hardware registers and video buffers</a:t>
            </a:r>
          </a:p>
          <a:p>
            <a:r>
              <a:rPr lang="en-US" altLang="en-US" dirty="0"/>
              <a:t>Highly machine-dependent</a:t>
            </a:r>
          </a:p>
          <a:p>
            <a:r>
              <a:rPr lang="en-US" altLang="en-US" dirty="0"/>
              <a:t>Example: MS-DOS graphics </a:t>
            </a:r>
            <a:r>
              <a:rPr lang="en-US" altLang="en-US" dirty="0" smtClean="0"/>
              <a:t>program</a:t>
            </a:r>
          </a:p>
          <a:p>
            <a:r>
              <a:rPr lang="en-US" altLang="en-US" dirty="0" smtClean="0"/>
              <a:t>Example: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670480" y="5484393"/>
            <a:ext cx="485713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>
                <a:cs typeface="Courier New" panose="02070309020205020404" pitchFamily="49" charset="0"/>
              </a:rPr>
              <a:t>Determination of the pixels on a circle. From the current pixel, the next pixel will be either to the “east” or to the “southeast”.</a:t>
            </a:r>
          </a:p>
        </p:txBody>
      </p:sp>
      <p:graphicFrame>
        <p:nvGraphicFramePr>
          <p:cNvPr id="5" name="Object 308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5973727"/>
              </p:ext>
            </p:extLst>
          </p:nvPr>
        </p:nvGraphicFramePr>
        <p:xfrm>
          <a:off x="9419303" y="4659312"/>
          <a:ext cx="2695575" cy="219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Picture" r:id="rId3" imgW="1857756" imgH="1514856" progId="Word.Picture.8">
                  <p:embed/>
                </p:oleObj>
              </mc:Choice>
              <mc:Fallback>
                <p:oleObj name="Picture" r:id="rId3" imgW="1857756" imgH="1514856" progId="Word.Picture.8">
                  <p:embed/>
                  <p:pic>
                    <p:nvPicPr>
                      <p:cNvPr id="27651" name="Object 308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19303" y="4659312"/>
                        <a:ext cx="2695575" cy="21986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41889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Programming Environment </a:t>
            </a:r>
            <a:r>
              <a:rPr lang="en-US" dirty="0" smtClean="0"/>
              <a:t>–operating system </a:t>
            </a:r>
            <a:r>
              <a:rPr lang="en-US" dirty="0"/>
              <a:t>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121408"/>
            <a:ext cx="10601042" cy="4050792"/>
          </a:xfrm>
        </p:spPr>
        <p:txBody>
          <a:bodyPr/>
          <a:lstStyle/>
          <a:p>
            <a:r>
              <a:rPr lang="en-US" altLang="en-US" dirty="0"/>
              <a:t>Program through OS graphics support </a:t>
            </a:r>
          </a:p>
          <a:p>
            <a:r>
              <a:rPr lang="en-US" altLang="en-US" dirty="0"/>
              <a:t>Do not directly manipulate graphics hardware</a:t>
            </a:r>
          </a:p>
          <a:p>
            <a:r>
              <a:rPr lang="en-US" altLang="en-US" dirty="0"/>
              <a:t>Portable on the same platform</a:t>
            </a:r>
          </a:p>
          <a:p>
            <a:r>
              <a:rPr lang="en-US" altLang="en-US" dirty="0"/>
              <a:t>Graphics APIs (application programming interfaces) provided at the operating system level offer a uniform interface for graphics programming within the same platform</a:t>
            </a:r>
          </a:p>
          <a:p>
            <a:r>
              <a:rPr lang="en-US" altLang="en-US" dirty="0"/>
              <a:t>Example: WIN32 is the API for 32 bit windows operating systems</a:t>
            </a:r>
          </a:p>
          <a:p>
            <a:endParaRPr lang="en-US" dirty="0"/>
          </a:p>
        </p:txBody>
      </p:sp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5638800" y="4429432"/>
            <a:ext cx="6553200" cy="242856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/>
          <a:p>
            <a:pPr marL="457200" indent="-342900">
              <a:lnSpc>
                <a:spcPct val="12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altLang="en-US" sz="16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hdc</a:t>
            </a: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en-US" sz="16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BeginPaint</a:t>
            </a: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sz="16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hwnd</a:t>
            </a: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&amp;</a:t>
            </a:r>
            <a:r>
              <a:rPr lang="en-US" altLang="en-US" sz="16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</a:t>
            </a: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457200" indent="-342900">
              <a:lnSpc>
                <a:spcPct val="12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altLang="en-US" sz="16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GetClientRect</a:t>
            </a: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sz="16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hwnd</a:t>
            </a: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&amp;</a:t>
            </a:r>
            <a:r>
              <a:rPr lang="en-US" altLang="en-US" sz="16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</a:t>
            </a: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457200" indent="-342900">
              <a:lnSpc>
                <a:spcPct val="12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cx = (</a:t>
            </a:r>
            <a:r>
              <a:rPr lang="en-US" altLang="en-US" sz="16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rc.left</a:t>
            </a: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altLang="en-US" sz="16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rc.right</a:t>
            </a: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)/2;</a:t>
            </a:r>
          </a:p>
          <a:p>
            <a:pPr marL="457200" indent="-342900">
              <a:lnSpc>
                <a:spcPct val="12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cy = (</a:t>
            </a:r>
            <a:r>
              <a:rPr lang="en-US" altLang="en-US" sz="16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rc.top</a:t>
            </a: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altLang="en-US" sz="16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rc.bottom</a:t>
            </a: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)/2;</a:t>
            </a:r>
          </a:p>
          <a:p>
            <a:pPr marL="457200" indent="-342900">
              <a:lnSpc>
                <a:spcPct val="12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if (</a:t>
            </a:r>
            <a:r>
              <a:rPr lang="en-US" altLang="en-US" sz="16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rc.bottom</a:t>
            </a: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altLang="en-US" sz="16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rc.top</a:t>
            </a: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 </a:t>
            </a:r>
            <a:r>
              <a:rPr lang="en-US" altLang="en-US" sz="16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rc.right</a:t>
            </a: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altLang="en-US" sz="16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rc.left</a:t>
            </a: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457200" indent="-342900">
              <a:lnSpc>
                <a:spcPct val="12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r = (</a:t>
            </a:r>
            <a:r>
              <a:rPr lang="en-US" altLang="en-US" sz="16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rc.bottom</a:t>
            </a: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altLang="en-US" sz="16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rc.top</a:t>
            </a: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/ 2 - 20;</a:t>
            </a:r>
          </a:p>
          <a:p>
            <a:pPr marL="457200" indent="-342900">
              <a:lnSpc>
                <a:spcPct val="12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else r = (</a:t>
            </a:r>
            <a:r>
              <a:rPr lang="en-US" altLang="en-US" sz="16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rc.right</a:t>
            </a: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altLang="en-US" sz="16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rc.left</a:t>
            </a: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/ 2 - 20;</a:t>
            </a:r>
          </a:p>
          <a:p>
            <a:pPr marL="457200" indent="-342900">
              <a:lnSpc>
                <a:spcPct val="12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Ellipse(</a:t>
            </a:r>
            <a:r>
              <a:rPr lang="en-US" altLang="en-US" sz="16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hdc</a:t>
            </a: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cx-r, cy-r, </a:t>
            </a:r>
            <a:r>
              <a:rPr lang="en-US" altLang="en-US" sz="16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cx+r</a:t>
            </a: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6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cy+r</a:t>
            </a: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457200" indent="-342900">
              <a:lnSpc>
                <a:spcPct val="120000"/>
              </a:lnSpc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altLang="en-US" sz="16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EndPaint</a:t>
            </a: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sz="16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hwnd</a:t>
            </a: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&amp;</a:t>
            </a:r>
            <a:r>
              <a:rPr lang="en-US" altLang="en-US" sz="16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</a:t>
            </a:r>
            <a:r>
              <a:rPr lang="en-US" altLang="en-US" sz="16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</p:txBody>
      </p:sp>
      <p:sp>
        <p:nvSpPr>
          <p:cNvPr id="6" name="Rectangle 5"/>
          <p:cNvSpPr/>
          <p:nvPr/>
        </p:nvSpPr>
        <p:spPr>
          <a:xfrm>
            <a:off x="127820" y="4720385"/>
            <a:ext cx="551098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880" indent="-182880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altLang="en-US" sz="2000" dirty="0"/>
              <a:t>Problem: Graphics programs that rely on operating system are not portable across different platforms </a:t>
            </a:r>
          </a:p>
          <a:p>
            <a:pPr marL="182880" indent="-182880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altLang="en-US" sz="2000" dirty="0"/>
              <a:t> example: In Windows and Mac OS, APIs are different</a:t>
            </a:r>
          </a:p>
        </p:txBody>
      </p:sp>
    </p:spTree>
    <p:extLst>
      <p:ext uri="{BB962C8B-B14F-4D97-AF65-F5344CB8AC3E}">
        <p14:creationId xmlns:p14="http://schemas.microsoft.com/office/powerpoint/2010/main" val="3413833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Programming Environment </a:t>
            </a:r>
            <a:r>
              <a:rPr lang="en-US" dirty="0" smtClean="0"/>
              <a:t>–</a:t>
            </a:r>
            <a:r>
              <a:rPr lang="en-US" dirty="0"/>
              <a:t>GKS and PHIGS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Graphics programming will provide a layer of abstraction necessary for device and platform independence</a:t>
            </a:r>
          </a:p>
          <a:p>
            <a:pPr marL="457200" lvl="2">
              <a:spcBef>
                <a:spcPts val="1200"/>
              </a:spcBef>
            </a:pPr>
            <a:r>
              <a:rPr lang="en-US" altLang="en-US" sz="1800" dirty="0"/>
              <a:t>International standard (ISO 7942 1985)</a:t>
            </a:r>
          </a:p>
          <a:p>
            <a:pPr marL="457200" lvl="2">
              <a:spcBef>
                <a:spcPts val="1200"/>
              </a:spcBef>
            </a:pPr>
            <a:r>
              <a:rPr lang="en-US" altLang="en-US" sz="1800" dirty="0"/>
              <a:t>Independent in device platform</a:t>
            </a:r>
          </a:p>
          <a:p>
            <a:pPr marL="457200" lvl="2">
              <a:spcBef>
                <a:spcPts val="1200"/>
              </a:spcBef>
            </a:pPr>
            <a:r>
              <a:rPr lang="en-US" altLang="en-US" sz="1800" dirty="0"/>
              <a:t>2D graphics</a:t>
            </a:r>
          </a:p>
          <a:p>
            <a:pPr marL="457200" lvl="2">
              <a:spcBef>
                <a:spcPts val="1200"/>
              </a:spcBef>
            </a:pPr>
            <a:r>
              <a:rPr lang="en-US" altLang="en-US" sz="1800" dirty="0"/>
              <a:t>Common language binding: FORTRAN</a:t>
            </a:r>
          </a:p>
          <a:p>
            <a:pPr marL="457200" lvl="2">
              <a:spcBef>
                <a:spcPts val="1200"/>
              </a:spcBef>
            </a:pPr>
            <a:r>
              <a:rPr lang="en-US" altLang="en-US" sz="1800" dirty="0"/>
              <a:t>Example: A FORTRAN GKS program to draw a circle</a:t>
            </a:r>
          </a:p>
          <a:p>
            <a:r>
              <a:rPr lang="en-US" altLang="en-US" i="1" dirty="0">
                <a:cs typeface="Courier New" panose="02070309020205020404" pitchFamily="49" charset="0"/>
              </a:rPr>
              <a:t>Programmer’s Hierarchical Interactive Graphics System PHIGS</a:t>
            </a:r>
          </a:p>
          <a:p>
            <a:pPr marL="457200" lvl="2">
              <a:spcBef>
                <a:spcPts val="1200"/>
              </a:spcBef>
            </a:pPr>
            <a:r>
              <a:rPr lang="en-US" altLang="en-US" sz="1800" dirty="0"/>
              <a:t>ISO 9592 1991 </a:t>
            </a:r>
          </a:p>
          <a:p>
            <a:pPr marL="457200" lvl="2">
              <a:spcBef>
                <a:spcPts val="1200"/>
              </a:spcBef>
            </a:pPr>
            <a:r>
              <a:rPr lang="en-US" altLang="en-US" sz="1800" dirty="0"/>
              <a:t>3D graphics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793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Programming Environment </a:t>
            </a:r>
            <a:r>
              <a:rPr lang="en-US" dirty="0" smtClean="0"/>
              <a:t>–OPENGL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Popular 2D/3D graphics API derived from GL (Graphics Library) </a:t>
            </a:r>
          </a:p>
          <a:p>
            <a:r>
              <a:rPr lang="en-US" altLang="en-US" dirty="0"/>
              <a:t>over 200 functions</a:t>
            </a:r>
          </a:p>
          <a:p>
            <a:r>
              <a:rPr lang="en-US" altLang="en-US" dirty="0"/>
              <a:t>Provides more powerful graphics API than the earlier standards such as GKS</a:t>
            </a:r>
          </a:p>
          <a:p>
            <a:r>
              <a:rPr lang="en-US" altLang="en-US" dirty="0"/>
              <a:t>Common language binding: C</a:t>
            </a:r>
          </a:p>
          <a:p>
            <a:r>
              <a:rPr lang="en-US" altLang="en-US" dirty="0"/>
              <a:t>OpenGL consists of Two libraries: </a:t>
            </a:r>
          </a:p>
          <a:p>
            <a:pPr marL="457200" lvl="2">
              <a:spcBef>
                <a:spcPts val="1200"/>
              </a:spcBef>
            </a:pPr>
            <a:r>
              <a:rPr lang="en-US" altLang="en-US" sz="1800" dirty="0"/>
              <a:t>GL Library contains the core functions for basics graphics features</a:t>
            </a:r>
          </a:p>
          <a:p>
            <a:pPr marL="457200" lvl="2">
              <a:spcBef>
                <a:spcPts val="1200"/>
              </a:spcBef>
            </a:pPr>
            <a:r>
              <a:rPr lang="en-US" altLang="en-US" sz="1800" dirty="0"/>
              <a:t>GLU (open GL Utility Library) contains higher level utility functions</a:t>
            </a:r>
          </a:p>
          <a:p>
            <a:pPr lvl="1"/>
            <a:r>
              <a:rPr lang="en-US" altLang="en-US" dirty="0" smtClean="0"/>
              <a:t>GLUT( OpenGL Utility Toolkit) used with open GL to construct a complete graphic program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3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Programming Environment </a:t>
            </a:r>
            <a:r>
              <a:rPr lang="en-US" dirty="0" smtClean="0"/>
              <a:t>–Java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7972" y="2044520"/>
            <a:ext cx="11122152" cy="4050792"/>
          </a:xfrm>
        </p:spPr>
        <p:txBody>
          <a:bodyPr/>
          <a:lstStyle/>
          <a:p>
            <a:r>
              <a:rPr lang="en-US" altLang="en-US" dirty="0"/>
              <a:t>Open GL provides a standard and efficient rendering interface to graphics hardware</a:t>
            </a:r>
          </a:p>
          <a:p>
            <a:r>
              <a:rPr lang="en-US" altLang="en-US" dirty="0"/>
              <a:t>However, with the rapid development of computer hardware and </a:t>
            </a:r>
            <a:r>
              <a:rPr lang="en-US" altLang="en-US" dirty="0" smtClean="0"/>
              <a:t>software </a:t>
            </a:r>
            <a:r>
              <a:rPr lang="en-US" altLang="en-US" sz="1800" dirty="0" smtClean="0"/>
              <a:t>a </a:t>
            </a:r>
            <a:r>
              <a:rPr lang="en-US" altLang="en-US" sz="1800" dirty="0"/>
              <a:t>high level OOP-based graphics offer great benefits</a:t>
            </a:r>
          </a:p>
          <a:p>
            <a:r>
              <a:rPr lang="en-US" altLang="en-US" dirty="0"/>
              <a:t>Java 2D and java 3D are newer graphics APIs with high portability</a:t>
            </a:r>
          </a:p>
          <a:p>
            <a:r>
              <a:rPr lang="en-US" altLang="en-US" dirty="0"/>
              <a:t>Java 3D based graphics systems implemented on the top of other APIs such as OpenGL</a:t>
            </a:r>
          </a:p>
          <a:p>
            <a:endParaRPr lang="en-US" dirty="0"/>
          </a:p>
        </p:txBody>
      </p:sp>
      <p:grpSp>
        <p:nvGrpSpPr>
          <p:cNvPr id="4" name="Group 5"/>
          <p:cNvGrpSpPr>
            <a:grpSpLocks/>
          </p:cNvGrpSpPr>
          <p:nvPr/>
        </p:nvGrpSpPr>
        <p:grpSpPr bwMode="auto">
          <a:xfrm>
            <a:off x="7010400" y="3886200"/>
            <a:ext cx="5181600" cy="2971800"/>
            <a:chOff x="3780" y="3780"/>
            <a:chExt cx="3240" cy="2520"/>
          </a:xfrm>
        </p:grpSpPr>
        <p:sp>
          <p:nvSpPr>
            <p:cNvPr id="5" name="Text Box 6"/>
            <p:cNvSpPr txBox="1">
              <a:spLocks noChangeArrowheads="1"/>
            </p:cNvSpPr>
            <p:nvPr/>
          </p:nvSpPr>
          <p:spPr bwMode="auto">
            <a:xfrm>
              <a:off x="5400" y="4140"/>
              <a:ext cx="162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/>
                <a:t>Java 3D</a:t>
              </a:r>
            </a:p>
          </p:txBody>
        </p:sp>
        <p:sp>
          <p:nvSpPr>
            <p:cNvPr id="6" name="Text Box 7"/>
            <p:cNvSpPr txBox="1">
              <a:spLocks noChangeArrowheads="1"/>
            </p:cNvSpPr>
            <p:nvPr/>
          </p:nvSpPr>
          <p:spPr bwMode="auto">
            <a:xfrm>
              <a:off x="5400" y="4500"/>
              <a:ext cx="162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/>
                <a:t>OpenGL</a:t>
              </a:r>
            </a:p>
          </p:txBody>
        </p:sp>
        <p:sp>
          <p:nvSpPr>
            <p:cNvPr id="7" name="Text Box 8"/>
            <p:cNvSpPr txBox="1">
              <a:spLocks noChangeArrowheads="1"/>
            </p:cNvSpPr>
            <p:nvPr/>
          </p:nvSpPr>
          <p:spPr bwMode="auto">
            <a:xfrm>
              <a:off x="3780" y="4140"/>
              <a:ext cx="162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/>
                <a:t>Java APIs</a:t>
              </a:r>
            </a:p>
          </p:txBody>
        </p:sp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3780" y="5220"/>
              <a:ext cx="324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/>
                <a:t>Display driver</a:t>
              </a:r>
            </a:p>
          </p:txBody>
        </p:sp>
        <p:sp>
          <p:nvSpPr>
            <p:cNvPr id="9" name="Text Box 10"/>
            <p:cNvSpPr txBox="1">
              <a:spLocks noChangeArrowheads="1"/>
            </p:cNvSpPr>
            <p:nvPr/>
          </p:nvSpPr>
          <p:spPr bwMode="auto">
            <a:xfrm>
              <a:off x="3780" y="5580"/>
              <a:ext cx="324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/>
                <a:t>Graphics card</a:t>
              </a:r>
            </a:p>
          </p:txBody>
        </p:sp>
        <p:sp>
          <p:nvSpPr>
            <p:cNvPr id="10" name="Text Box 11"/>
            <p:cNvSpPr txBox="1">
              <a:spLocks noChangeArrowheads="1"/>
            </p:cNvSpPr>
            <p:nvPr/>
          </p:nvSpPr>
          <p:spPr bwMode="auto">
            <a:xfrm>
              <a:off x="3780" y="5940"/>
              <a:ext cx="324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/>
                <a:t>Display</a:t>
              </a:r>
            </a:p>
          </p:txBody>
        </p:sp>
        <p:sp>
          <p:nvSpPr>
            <p:cNvPr id="11" name="Text Box 12"/>
            <p:cNvSpPr txBox="1">
              <a:spLocks noChangeArrowheads="1"/>
            </p:cNvSpPr>
            <p:nvPr/>
          </p:nvSpPr>
          <p:spPr bwMode="auto">
            <a:xfrm>
              <a:off x="3780" y="3780"/>
              <a:ext cx="324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/>
                <a:t>Graphics application</a:t>
              </a:r>
            </a:p>
          </p:txBody>
        </p:sp>
        <p:sp>
          <p:nvSpPr>
            <p:cNvPr id="12" name="Text Box 13"/>
            <p:cNvSpPr txBox="1">
              <a:spLocks noChangeArrowheads="1"/>
            </p:cNvSpPr>
            <p:nvPr/>
          </p:nvSpPr>
          <p:spPr bwMode="auto">
            <a:xfrm>
              <a:off x="3780" y="4500"/>
              <a:ext cx="162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/>
                <a:t>Java VM</a:t>
              </a:r>
            </a:p>
          </p:txBody>
        </p:sp>
        <p:sp>
          <p:nvSpPr>
            <p:cNvPr id="13" name="Text Box 14"/>
            <p:cNvSpPr txBox="1">
              <a:spLocks noChangeArrowheads="1"/>
            </p:cNvSpPr>
            <p:nvPr/>
          </p:nvSpPr>
          <p:spPr bwMode="auto">
            <a:xfrm>
              <a:off x="3780" y="4860"/>
              <a:ext cx="324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/>
                <a:t>OS</a:t>
              </a:r>
            </a:p>
          </p:txBody>
        </p:sp>
      </p:grpSp>
      <p:sp>
        <p:nvSpPr>
          <p:cNvPr id="14" name="Rectangle 13"/>
          <p:cNvSpPr/>
          <p:nvPr/>
        </p:nvSpPr>
        <p:spPr>
          <a:xfrm>
            <a:off x="1069848" y="499020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dirty="0"/>
              <a:t>An overview of the Java language and it graphics facilities</a:t>
            </a:r>
          </a:p>
        </p:txBody>
      </p:sp>
    </p:spTree>
    <p:extLst>
      <p:ext uri="{BB962C8B-B14F-4D97-AF65-F5344CB8AC3E}">
        <p14:creationId xmlns:p14="http://schemas.microsoft.com/office/powerpoint/2010/main" val="126246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Programming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defRPr/>
            </a:pPr>
            <a:r>
              <a:rPr lang="en-US" sz="2400" dirty="0"/>
              <a:t>Simple</a:t>
            </a:r>
          </a:p>
          <a:p>
            <a:pPr algn="just">
              <a:defRPr/>
            </a:pPr>
            <a:r>
              <a:rPr lang="en-US" sz="2400" dirty="0"/>
              <a:t>Object Oriented (OOP)</a:t>
            </a:r>
          </a:p>
          <a:p>
            <a:pPr algn="just">
              <a:defRPr/>
            </a:pPr>
            <a:r>
              <a:rPr lang="en-US" sz="2400" dirty="0"/>
              <a:t>Write once, run anywhere</a:t>
            </a:r>
          </a:p>
          <a:p>
            <a:pPr algn="just">
              <a:defRPr/>
            </a:pPr>
            <a:r>
              <a:rPr lang="en-US" sz="2400" dirty="0"/>
              <a:t>Multithreaded</a:t>
            </a:r>
          </a:p>
          <a:p>
            <a:pPr algn="just">
              <a:defRPr/>
            </a:pPr>
            <a:r>
              <a:rPr lang="en-US" sz="2400" dirty="0"/>
              <a:t>Java contains two nearly parallel sets of facilities for GUI programing</a:t>
            </a:r>
          </a:p>
          <a:p>
            <a:pPr marL="640080" lvl="1" algn="just">
              <a:spcAft>
                <a:spcPts val="0"/>
              </a:spcAft>
              <a:defRPr/>
            </a:pPr>
            <a:r>
              <a:rPr lang="en-US" b="1" dirty="0"/>
              <a:t>AWT(Abstract Window Toolkit) </a:t>
            </a:r>
            <a:r>
              <a:rPr lang="en-US" dirty="0"/>
              <a:t>offers capabilities to control certain rendering attributes such as drawing color and to draw some graphics primitives such as lines, rectangles and ovals. However, </a:t>
            </a:r>
            <a:r>
              <a:rPr lang="en-US" i="1" dirty="0">
                <a:solidFill>
                  <a:srgbClr val="FF0000"/>
                </a:solidFill>
              </a:rPr>
              <a:t>these features are limited.</a:t>
            </a:r>
          </a:p>
          <a:p>
            <a:pPr marL="640080" lvl="1" algn="just">
              <a:spcAft>
                <a:spcPts val="0"/>
              </a:spcAft>
              <a:defRPr/>
            </a:pPr>
            <a:r>
              <a:rPr lang="en-US" b="1" dirty="0"/>
              <a:t>Swing</a:t>
            </a:r>
            <a:r>
              <a:rPr lang="en-US" dirty="0"/>
              <a:t> is a completely redesigned GUI programming API included in the Java 2 platform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2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Programming </a:t>
            </a:r>
            <a:r>
              <a:rPr lang="en-US" dirty="0" smtClean="0"/>
              <a:t>Languages-Java OpenGL (JOGL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One graphics programming for Java is OpenGL</a:t>
            </a:r>
          </a:p>
          <a:p>
            <a:pPr algn="just"/>
            <a:r>
              <a:rPr lang="en-US" altLang="en-US" dirty="0"/>
              <a:t>OpenGL  Java language binding</a:t>
            </a:r>
          </a:p>
          <a:p>
            <a:pPr algn="just"/>
            <a:r>
              <a:rPr lang="en-US" altLang="en-US" dirty="0"/>
              <a:t>The two </a:t>
            </a:r>
            <a:r>
              <a:rPr lang="en-US" altLang="en-US" dirty="0" err="1"/>
              <a:t>componenets</a:t>
            </a:r>
            <a:r>
              <a:rPr lang="en-US" altLang="en-US" dirty="0"/>
              <a:t> </a:t>
            </a:r>
            <a:r>
              <a:rPr lang="en-US" altLang="en-US" dirty="0" err="1"/>
              <a:t>GLCanvas</a:t>
            </a:r>
            <a:r>
              <a:rPr lang="en-US" altLang="en-US" dirty="0"/>
              <a:t> and </a:t>
            </a:r>
            <a:r>
              <a:rPr lang="en-US" altLang="en-US" dirty="0" err="1"/>
              <a:t>GLJpanel</a:t>
            </a:r>
            <a:r>
              <a:rPr lang="en-US" altLang="en-US" dirty="0"/>
              <a:t> provide the drawing surfaces for the </a:t>
            </a:r>
            <a:r>
              <a:rPr lang="en-US" altLang="en-US" dirty="0" err="1"/>
              <a:t>openGL</a:t>
            </a:r>
            <a:r>
              <a:rPr lang="en-US" altLang="en-US" dirty="0"/>
              <a:t> calls</a:t>
            </a:r>
          </a:p>
          <a:p>
            <a:pPr algn="just"/>
            <a:r>
              <a:rPr lang="en-US" altLang="en-US" dirty="0"/>
              <a:t>A typical procedure for programming JOGL is outlined </a:t>
            </a:r>
            <a:r>
              <a:rPr lang="en-US" altLang="en-US" dirty="0" smtClean="0"/>
              <a:t>below</a:t>
            </a:r>
          </a:p>
          <a:p>
            <a:pPr marL="731520" lvl="3" indent="-457200" algn="just">
              <a:spcBef>
                <a:spcPts val="1200"/>
              </a:spcBef>
              <a:buFont typeface="+mj-lt"/>
              <a:buAutoNum type="arabicPeriod"/>
            </a:pPr>
            <a:r>
              <a:rPr lang="en-US" altLang="en-US" sz="2000" dirty="0"/>
              <a:t>Create a </a:t>
            </a:r>
            <a:r>
              <a:rPr lang="en-US" altLang="en-US" sz="2000" dirty="0" err="1"/>
              <a:t>GLCanvas</a:t>
            </a:r>
            <a:r>
              <a:rPr lang="en-US" altLang="en-US" sz="2000" dirty="0"/>
              <a:t> or </a:t>
            </a:r>
            <a:r>
              <a:rPr lang="en-US" altLang="en-US" sz="2000" dirty="0" err="1"/>
              <a:t>GLJPanel</a:t>
            </a:r>
            <a:r>
              <a:rPr lang="en-US" altLang="en-US" sz="2000" dirty="0"/>
              <a:t> object through the </a:t>
            </a:r>
            <a:r>
              <a:rPr lang="en-US" altLang="en-US" sz="2000" dirty="0" err="1"/>
              <a:t>GLDrawableFactory</a:t>
            </a:r>
            <a:r>
              <a:rPr lang="en-US" altLang="en-US" sz="2000" dirty="0"/>
              <a:t> class.</a:t>
            </a:r>
          </a:p>
          <a:p>
            <a:pPr marL="731520" lvl="3" indent="-457200" algn="just">
              <a:spcBef>
                <a:spcPts val="1200"/>
              </a:spcBef>
              <a:buFont typeface="+mj-lt"/>
              <a:buAutoNum type="arabicPeriod"/>
            </a:pPr>
            <a:r>
              <a:rPr lang="en-US" altLang="en-US" sz="2000" dirty="0"/>
              <a:t>Add a </a:t>
            </a:r>
            <a:r>
              <a:rPr lang="en-US" altLang="en-US" sz="2000" dirty="0" err="1"/>
              <a:t>GLEvent</a:t>
            </a:r>
            <a:r>
              <a:rPr lang="en-US" altLang="en-US" sz="2000" dirty="0"/>
              <a:t> listener to the canvas object.</a:t>
            </a:r>
          </a:p>
          <a:p>
            <a:pPr marL="731520" lvl="3" indent="-457200" algn="just">
              <a:spcBef>
                <a:spcPts val="1200"/>
              </a:spcBef>
              <a:buFont typeface="+mj-lt"/>
              <a:buAutoNum type="arabicPeriod"/>
            </a:pPr>
            <a:r>
              <a:rPr lang="en-US" altLang="en-US" sz="2000" dirty="0"/>
              <a:t>Implement the listener by implementing the four methods: </a:t>
            </a:r>
            <a:r>
              <a:rPr lang="en-US" altLang="en-US" sz="2000" dirty="0" err="1"/>
              <a:t>init</a:t>
            </a:r>
            <a:r>
              <a:rPr lang="en-US" altLang="en-US" sz="2000" dirty="0"/>
              <a:t>, display, reshape, and </a:t>
            </a:r>
            <a:r>
              <a:rPr lang="en-US" altLang="en-US" sz="2000" dirty="0" err="1"/>
              <a:t>displayChanged</a:t>
            </a:r>
            <a:r>
              <a:rPr lang="en-US" altLang="en-US" sz="20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57834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0687" y="-253968"/>
            <a:ext cx="10058400" cy="1609344"/>
          </a:xfrm>
        </p:spPr>
        <p:txBody>
          <a:bodyPr/>
          <a:lstStyle/>
          <a:p>
            <a:r>
              <a:rPr lang="en-US" dirty="0" smtClean="0"/>
              <a:t>A minimum Java graphics app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51368"/>
            <a:ext cx="4103100" cy="2784889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4572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package javaapplication1;</a:t>
            </a:r>
          </a:p>
          <a:p>
            <a:pPr marL="4572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import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java.awt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.*;</a:t>
            </a:r>
          </a:p>
          <a:p>
            <a:pPr marL="4572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import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java.awt.event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.*;</a:t>
            </a:r>
          </a:p>
          <a:p>
            <a:pPr marL="4572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import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javax.swing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.*;</a:t>
            </a:r>
          </a:p>
          <a:p>
            <a:pPr marL="4572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import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java.awt.geom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.*;</a:t>
            </a:r>
          </a:p>
          <a:p>
            <a:pPr marL="4572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import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java.util.Random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4572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import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javax.imageio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.*;</a:t>
            </a:r>
          </a:p>
          <a:p>
            <a:pPr marL="4572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import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java.io.File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4572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import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java.io.IOException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4572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import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java.awt.image.BufferedImage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289754" y="941535"/>
            <a:ext cx="6902245" cy="42400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public class JavaApplication1 extends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JApplet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pPr marL="4572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public static void main(String[]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 {</a:t>
            </a:r>
          </a:p>
          <a:p>
            <a:pPr marL="4572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alt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JFrame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frame=new </a:t>
            </a:r>
            <a:r>
              <a:rPr lang="en-US" alt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JFrame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4572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alt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frame.setDefaultCloseOperation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JFrame.EXIT_ON_CLOSE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4572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JApplet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applete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=new JavaApplication1();</a:t>
            </a:r>
          </a:p>
          <a:p>
            <a:pPr marL="4572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applete.init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4572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frame.getContentPane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().add(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applete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4572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frame.pack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marL="4572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frame.setVisible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(true);</a:t>
            </a:r>
          </a:p>
          <a:p>
            <a:pPr marL="4572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pPr marL="4572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public void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(){</a:t>
            </a:r>
          </a:p>
          <a:p>
            <a:pPr marL="4572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JPanel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panel=new JApp1Panel();</a:t>
            </a:r>
          </a:p>
          <a:p>
            <a:pPr marL="4572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getContentPane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().add(panel);</a:t>
            </a:r>
          </a:p>
          <a:p>
            <a:pPr marL="4572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}}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" y="4559808"/>
            <a:ext cx="5166852" cy="229819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lnSpc>
                <a:spcPct val="13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class JApp1Panel extends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JPanel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pPr marL="457200" indent="-342900">
              <a:lnSpc>
                <a:spcPct val="13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public JApp1Panel(){</a:t>
            </a:r>
          </a:p>
          <a:p>
            <a:pPr marL="457200" indent="-342900">
              <a:lnSpc>
                <a:spcPct val="13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setPreferredSize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(new Dimension(640,480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));}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342900">
              <a:lnSpc>
                <a:spcPct val="13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public void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paintComponent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(Graphics g){</a:t>
            </a:r>
          </a:p>
          <a:p>
            <a:pPr marL="457200" indent="-342900">
              <a:lnSpc>
                <a:spcPct val="13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super.paintComponent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(g);</a:t>
            </a:r>
          </a:p>
          <a:p>
            <a:pPr marL="457200" indent="-342900">
              <a:lnSpc>
                <a:spcPct val="13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Graphics2D g2=(Graphics2D) g;</a:t>
            </a:r>
          </a:p>
          <a:p>
            <a:pPr marL="457200" indent="-342900">
              <a:lnSpc>
                <a:spcPct val="13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g2.drawLine(0,0,100,100);}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408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2D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652" y="1816608"/>
            <a:ext cx="12054348" cy="4050792"/>
          </a:xfrm>
        </p:spPr>
        <p:txBody>
          <a:bodyPr>
            <a:noAutofit/>
          </a:bodyPr>
          <a:lstStyle/>
          <a:p>
            <a:pPr algn="just">
              <a:lnSpc>
                <a:spcPct val="110000"/>
              </a:lnSpc>
            </a:pPr>
            <a:r>
              <a:rPr lang="en-US" altLang="en-US" dirty="0"/>
              <a:t>Standard package of Java 2 platform</a:t>
            </a:r>
          </a:p>
          <a:p>
            <a:pPr algn="just">
              <a:lnSpc>
                <a:spcPct val="110000"/>
              </a:lnSpc>
            </a:pPr>
            <a:r>
              <a:rPr lang="en-US" altLang="en-US" dirty="0"/>
              <a:t>Improvements over AWT</a:t>
            </a:r>
          </a:p>
          <a:p>
            <a:pPr algn="just">
              <a:lnSpc>
                <a:spcPct val="110000"/>
              </a:lnSpc>
            </a:pPr>
            <a:r>
              <a:rPr lang="en-US" altLang="en-US" dirty="0"/>
              <a:t>Graphics2D class</a:t>
            </a:r>
          </a:p>
          <a:p>
            <a:pPr algn="just">
              <a:lnSpc>
                <a:spcPct val="110000"/>
              </a:lnSpc>
            </a:pPr>
            <a:r>
              <a:rPr lang="en-US" altLang="en-US" dirty="0"/>
              <a:t>Java 2D provides a rather complete set of functionalities to manipulate and render 2D graphics</a:t>
            </a:r>
          </a:p>
          <a:p>
            <a:pPr algn="just">
              <a:lnSpc>
                <a:spcPct val="110000"/>
              </a:lnSpc>
            </a:pPr>
            <a:r>
              <a:rPr lang="en-US" altLang="en-US" dirty="0"/>
              <a:t>The enhancements include</a:t>
            </a:r>
          </a:p>
          <a:p>
            <a:pPr marL="457200" lvl="2" algn="just">
              <a:lnSpc>
                <a:spcPct val="110000"/>
              </a:lnSpc>
              <a:spcBef>
                <a:spcPts val="1200"/>
              </a:spcBef>
            </a:pPr>
            <a:r>
              <a:rPr lang="en-US" altLang="en-US" sz="1800" dirty="0"/>
              <a:t>A separate class hierarchy for geometric objects is defined in Java 2D</a:t>
            </a:r>
          </a:p>
          <a:p>
            <a:pPr marL="457200" lvl="2" algn="just">
              <a:lnSpc>
                <a:spcPct val="110000"/>
              </a:lnSpc>
              <a:spcBef>
                <a:spcPts val="1200"/>
              </a:spcBef>
            </a:pPr>
            <a:r>
              <a:rPr lang="en-US" altLang="en-US" sz="1800" dirty="0"/>
              <a:t>The rendering process much more refined</a:t>
            </a:r>
          </a:p>
          <a:p>
            <a:pPr marL="457200" lvl="2" algn="just">
              <a:lnSpc>
                <a:spcPct val="110000"/>
              </a:lnSpc>
              <a:spcBef>
                <a:spcPts val="1200"/>
              </a:spcBef>
            </a:pPr>
            <a:r>
              <a:rPr lang="en-US" altLang="en-US" sz="1800" dirty="0"/>
              <a:t>Completely new image processing features are introduced</a:t>
            </a:r>
          </a:p>
          <a:p>
            <a:pPr marL="457200" lvl="2" algn="just">
              <a:lnSpc>
                <a:spcPct val="110000"/>
              </a:lnSpc>
              <a:spcBef>
                <a:spcPts val="1200"/>
              </a:spcBef>
            </a:pPr>
            <a:r>
              <a:rPr lang="en-US" altLang="en-US" sz="1800" dirty="0"/>
              <a:t>Color models, fonts, printing, and other related supports are also greatly improved</a:t>
            </a:r>
          </a:p>
          <a:p>
            <a:pPr algn="just">
              <a:lnSpc>
                <a:spcPct val="110000"/>
              </a:lnSpc>
            </a:pPr>
            <a:r>
              <a:rPr lang="en-US" altLang="en-US" dirty="0"/>
              <a:t>The Graphics2D class, a subclass of the Graphics class, is the rendering for java 2D</a:t>
            </a:r>
          </a:p>
        </p:txBody>
      </p:sp>
    </p:spTree>
    <p:extLst>
      <p:ext uri="{BB962C8B-B14F-4D97-AF65-F5344CB8AC3E}">
        <p14:creationId xmlns:p14="http://schemas.microsoft.com/office/powerpoint/2010/main" val="137900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3D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05049"/>
            <a:ext cx="12191999" cy="5474525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defRPr/>
            </a:pPr>
            <a:r>
              <a:rPr lang="en-US" sz="2400" dirty="0"/>
              <a:t> 3D graphics includes advanced features as animation, 3d interactions and sophisticated viewing</a:t>
            </a:r>
          </a:p>
          <a:p>
            <a:pPr algn="just">
              <a:lnSpc>
                <a:spcPct val="100000"/>
              </a:lnSpc>
              <a:defRPr/>
            </a:pPr>
            <a:r>
              <a:rPr lang="en-US" sz="2400" dirty="0"/>
              <a:t>High-level API</a:t>
            </a:r>
          </a:p>
          <a:p>
            <a:pPr algn="just">
              <a:lnSpc>
                <a:spcPct val="100000"/>
              </a:lnSpc>
              <a:defRPr/>
            </a:pPr>
            <a:r>
              <a:rPr lang="en-US" sz="2400" dirty="0"/>
              <a:t> Scene graph contains the complete information of the virtual graphics world</a:t>
            </a:r>
          </a:p>
          <a:p>
            <a:pPr algn="just">
              <a:lnSpc>
                <a:spcPct val="100000"/>
              </a:lnSpc>
              <a:defRPr/>
            </a:pPr>
            <a:r>
              <a:rPr lang="en-US" sz="2400" dirty="0"/>
              <a:t>The visual effects  of the program are achieved by creating a scene graph and placing the appropriate graphics elements into it</a:t>
            </a:r>
          </a:p>
          <a:p>
            <a:pPr algn="just">
              <a:lnSpc>
                <a:spcPct val="100000"/>
              </a:lnSpc>
              <a:defRPr/>
            </a:pPr>
            <a:r>
              <a:rPr lang="en-US" sz="2400" dirty="0"/>
              <a:t>The scene graph for the program is a treelike structure containing objects such as the sphere, the 3D text, appearance, transforms, background, lights, and so on</a:t>
            </a:r>
          </a:p>
          <a:p>
            <a:pPr algn="just">
              <a:lnSpc>
                <a:spcPct val="100000"/>
              </a:lnSpc>
              <a:defRPr/>
            </a:pPr>
            <a:r>
              <a:rPr lang="en-US" sz="2400" dirty="0"/>
              <a:t>The rendering of the scene is done automatically by the java 3D engine</a:t>
            </a:r>
          </a:p>
          <a:p>
            <a:pPr algn="just">
              <a:lnSpc>
                <a:spcPct val="100000"/>
              </a:lnSpc>
              <a:defRPr/>
            </a:pPr>
            <a:r>
              <a:rPr lang="en-US" sz="2400" dirty="0"/>
              <a:t> Modeler/Renderer</a:t>
            </a:r>
          </a:p>
          <a:p>
            <a:pPr algn="just">
              <a:lnSpc>
                <a:spcPct val="100000"/>
              </a:lnSpc>
              <a:defRPr/>
            </a:pPr>
            <a:r>
              <a:rPr lang="en-US" sz="2400" dirty="0"/>
              <a:t> Java Integration</a:t>
            </a:r>
          </a:p>
        </p:txBody>
      </p:sp>
    </p:spTree>
    <p:extLst>
      <p:ext uri="{BB962C8B-B14F-4D97-AF65-F5344CB8AC3E}">
        <p14:creationId xmlns:p14="http://schemas.microsoft.com/office/powerpoint/2010/main" val="1538281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159</TotalTime>
  <Words>1683</Words>
  <Application>Microsoft Office PowerPoint</Application>
  <PresentationFormat>Widescreen</PresentationFormat>
  <Paragraphs>214</Paragraphs>
  <Slides>24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Courier New</vt:lpstr>
      <vt:lpstr>Rockwell</vt:lpstr>
      <vt:lpstr>Rockwell Condensed</vt:lpstr>
      <vt:lpstr>Times New Roman</vt:lpstr>
      <vt:lpstr>Wingdings</vt:lpstr>
      <vt:lpstr>Wood Type</vt:lpstr>
      <vt:lpstr>Picture</vt:lpstr>
      <vt:lpstr>Introduction</vt:lpstr>
      <vt:lpstr>objectives</vt:lpstr>
      <vt:lpstr>Computer graphics</vt:lpstr>
      <vt:lpstr>From real scene to an image</vt:lpstr>
      <vt:lpstr>Computer graphics main tasks</vt:lpstr>
      <vt:lpstr>Computer graphics- modeling</vt:lpstr>
      <vt:lpstr>Computer graphics- modeling</vt:lpstr>
      <vt:lpstr>Modeling-level of detail</vt:lpstr>
      <vt:lpstr>Computer graphics –common vocabulary</vt:lpstr>
      <vt:lpstr>Computer graphics –common vocabulary</vt:lpstr>
      <vt:lpstr>Computer Graphics:  view</vt:lpstr>
      <vt:lpstr>Computer Graphics:    Hardware devices</vt:lpstr>
      <vt:lpstr>Computer Graphics:    Animation and Interaction</vt:lpstr>
      <vt:lpstr>Graphics Programming Environment</vt:lpstr>
      <vt:lpstr>Graphics Programming Environment –hardware level</vt:lpstr>
      <vt:lpstr>Graphics Programming Environment –operating system level</vt:lpstr>
      <vt:lpstr>Graphics Programming Environment –GKS and PHIGS</vt:lpstr>
      <vt:lpstr>Graphics Programming Environment –OPENGL</vt:lpstr>
      <vt:lpstr>Graphics Programming Environment –Java</vt:lpstr>
      <vt:lpstr>Java Programming Languages</vt:lpstr>
      <vt:lpstr>Java Programming Languages-Java OpenGL (JOGL</vt:lpstr>
      <vt:lpstr>A minimum Java graphics app</vt:lpstr>
      <vt:lpstr>Java 2D</vt:lpstr>
      <vt:lpstr>Java 3D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Windows User</dc:creator>
  <cp:lastModifiedBy>aou</cp:lastModifiedBy>
  <cp:revision>20</cp:revision>
  <dcterms:created xsi:type="dcterms:W3CDTF">2023-09-06T06:11:38Z</dcterms:created>
  <dcterms:modified xsi:type="dcterms:W3CDTF">2023-09-19T14:41:32Z</dcterms:modified>
</cp:coreProperties>
</file>