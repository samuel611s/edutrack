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8BDF8">
                    <a:alpha val="20000"/>
                  </a:srgbClr>
                </a:solidFill>
              </a:rPr>
              <a:t>{  }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6858000" y="29260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>
                    <a:alpha val="20000"/>
                  </a:srgbClr>
                </a:solidFill>
              </a:rPr>
              <a:t>&lt;/&gt;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↔ XML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Guide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study material for understanding data format conversions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What are JSON &amp; XML?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42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Structure Comparison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439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JSON → XML Rules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XML → JSON Rules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41422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 Examples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44439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Edge Cases &amp; Best Practices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Study Material</a:t>
            </a:r>
            <a:endParaRPr lang="en-US" sz="1000" dirty="0"/>
          </a:p>
        </p:txBody>
      </p:sp>
      <p:sp>
        <p:nvSpPr>
          <p:cNvPr id="17" name="TextBox 16"/>
          <p:cNvSpPr txBox="1"/>
          <p:nvPr/>
        </p:nvSpPr>
        <p:spPr>
          <a:xfrm>
            <a:off x="548640" y="4736592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i="1">
                <a:solidFill>
                  <a:srgbClr val="38BDF8"/>
                </a:solidFill>
                <a:latin typeface="Calibri"/>
              </a:rPr>
              <a:t>Edited by: Dr. Laila Abd-Ellatif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JSON &amp; XML?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02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4114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41148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005840"/>
            <a:ext cx="822960" cy="3474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9875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Object Notation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554480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90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text-based format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1993392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929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JavaScript syntax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32304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3682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&amp; easy to parse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871216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807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key-value pairs and arrays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3310128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attributes — only data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137160" cy="1371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REST APIs &amp; configs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206240"/>
            <a:ext cx="3749040" cy="50292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206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"Alice", "age": 30 }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777240"/>
            <a:ext cx="4114800" cy="4114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777240"/>
            <a:ext cx="41148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892040" y="1005840"/>
            <a:ext cx="8229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00584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XML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9875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Markup Language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92040" y="155448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14904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Tag-based markup language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1993392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1929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 &amp; verbose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92040" y="2432304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23682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attributes in tags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2871216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8072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hierarchical structure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92040" y="3310128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built-in schema validation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892040" y="3749040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SOAP, configs &amp; docs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92040" y="4206240"/>
            <a:ext cx="3749040" cy="50292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4206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&lt;person&gt;&lt;name&gt;Alice&lt;/name&gt;&lt;age&gt;30&lt;/age&gt;&lt;/person&gt;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Comparison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03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2103120" cy="4572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77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Feature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2926080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777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JSON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777240"/>
            <a:ext cx="33832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777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XML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210312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Syntax style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1325880"/>
            <a:ext cx="29260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13258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/ array-based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1325880"/>
            <a:ext cx="33832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3258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Tag-based markup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1719072"/>
            <a:ext cx="210312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17190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Data types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468880" y="1719072"/>
            <a:ext cx="292608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2514600" y="17190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number, bool, null, array, object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1719072"/>
            <a:ext cx="338328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5532120" y="17190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— types via schema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112264"/>
            <a:ext cx="210312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1122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Attributes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2112264"/>
            <a:ext cx="29260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2514600" y="211226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supported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2112264"/>
            <a:ext cx="33832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5532120" y="21122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 support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505456"/>
            <a:ext cx="210312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25054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Arrays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68880" y="2505456"/>
            <a:ext cx="292608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25054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Native:  [ 1, 2, 3 ]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0" y="2505456"/>
            <a:ext cx="338328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250545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Repeated tags needed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2898648"/>
            <a:ext cx="210312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28986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Comments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468880" y="2898648"/>
            <a:ext cx="29260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8" name="Text 36"/>
          <p:cNvSpPr/>
          <p:nvPr/>
        </p:nvSpPr>
        <p:spPr>
          <a:xfrm>
            <a:off x="2514600" y="28986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supported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0" y="2898648"/>
            <a:ext cx="33832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28986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&lt;!-- comment --&gt;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3291840"/>
            <a:ext cx="210312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3291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Namespaces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468880" y="3291840"/>
            <a:ext cx="292608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2514600" y="32918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Not supported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486400" y="3291840"/>
            <a:ext cx="338328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46" name="Text 44"/>
          <p:cNvSpPr/>
          <p:nvPr/>
        </p:nvSpPr>
        <p:spPr>
          <a:xfrm>
            <a:off x="5532120" y="32918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xmlns:prefix support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3685032"/>
            <a:ext cx="210312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" y="36850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Verbosity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468880" y="3685032"/>
            <a:ext cx="29260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0" name="Text 48"/>
          <p:cNvSpPr/>
          <p:nvPr/>
        </p:nvSpPr>
        <p:spPr>
          <a:xfrm>
            <a:off x="2514600" y="36850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Concise &amp; compact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0" y="3685032"/>
            <a:ext cx="33832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2" name="Text 50"/>
          <p:cNvSpPr/>
          <p:nvPr/>
        </p:nvSpPr>
        <p:spPr>
          <a:xfrm>
            <a:off x="5532120" y="368503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Verbose — more bytes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4078224"/>
            <a:ext cx="210312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" y="407822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Schema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468880" y="4078224"/>
            <a:ext cx="292608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56" name="Text 54"/>
          <p:cNvSpPr/>
          <p:nvPr/>
        </p:nvSpPr>
        <p:spPr>
          <a:xfrm>
            <a:off x="2514600" y="40782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(optional)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486400" y="4078224"/>
            <a:ext cx="3383280" cy="38404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58" name="Text 56"/>
          <p:cNvSpPr/>
          <p:nvPr/>
        </p:nvSpPr>
        <p:spPr>
          <a:xfrm>
            <a:off x="5532120" y="40782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XSD / DTD / RelaxNG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20040" y="4471416"/>
            <a:ext cx="210312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0" name="Text 58"/>
          <p:cNvSpPr/>
          <p:nvPr/>
        </p:nvSpPr>
        <p:spPr>
          <a:xfrm>
            <a:off x="320040" y="447141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Readability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468880" y="4471416"/>
            <a:ext cx="29260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2" name="Text 60"/>
          <p:cNvSpPr/>
          <p:nvPr/>
        </p:nvSpPr>
        <p:spPr>
          <a:xfrm>
            <a:off x="2514600" y="447141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Very human-friendly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486400" y="4471416"/>
            <a:ext cx="338328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4" name="Text 62"/>
          <p:cNvSpPr/>
          <p:nvPr/>
        </p:nvSpPr>
        <p:spPr>
          <a:xfrm>
            <a:off x="5532120" y="447141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Readable but verbose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XML  Conversion Rules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04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JSON }   →   &lt; XML /&gt;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251960" cy="1783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384048" cy="1783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8872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261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Object → Root Element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600200"/>
            <a:ext cx="169164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6002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JSON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79222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"person": { ... 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96312" y="1874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43784" y="1600200"/>
            <a:ext cx="160020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6" name="Text 14"/>
          <p:cNvSpPr/>
          <p:nvPr/>
        </p:nvSpPr>
        <p:spPr>
          <a:xfrm>
            <a:off x="2843784" y="16002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XML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80360" y="17922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&lt;person&gt;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&lt;/person&gt;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606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top-level JSON object becomes the XML root element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4251960" cy="1783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08960"/>
            <a:ext cx="384048" cy="1783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0896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3182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/ Number / Boolean → Text Content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169164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5204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JSON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7124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"name": "Alice"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"age": 30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96312" y="3794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843784" y="3520440"/>
            <a:ext cx="160020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28" name="Text 26"/>
          <p:cNvSpPr/>
          <p:nvPr/>
        </p:nvSpPr>
        <p:spPr>
          <a:xfrm>
            <a:off x="2843784" y="35204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XML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80360" y="371246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&lt;name&gt;Alice&lt;/name&gt;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&lt;age&gt;30&lt;/age&gt;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" y="4526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Each key becomes a tag; the value becomes text content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1188720"/>
            <a:ext cx="4251960" cy="1783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1188720"/>
            <a:ext cx="384048" cy="1783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118872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93792" y="1261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→ Repeated Elements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193792" y="1600200"/>
            <a:ext cx="169164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36" name="Text 34"/>
          <p:cNvSpPr/>
          <p:nvPr/>
        </p:nvSpPr>
        <p:spPr>
          <a:xfrm>
            <a:off x="5193792" y="16002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JSON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39512" y="179222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"colors":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"red", "blue"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12864" y="1874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260336" y="1600200"/>
            <a:ext cx="160020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40" name="Text 38"/>
          <p:cNvSpPr/>
          <p:nvPr/>
        </p:nvSpPr>
        <p:spPr>
          <a:xfrm>
            <a:off x="7260336" y="16002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XML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96912" y="17922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&lt;colors&gt;red&lt;/colors&gt;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&lt;colors&gt;blue&lt;/colors&gt;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93792" y="2606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Each array item becomes its own tag using the array key name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6592" y="3108960"/>
            <a:ext cx="4251960" cy="1783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36592" y="3108960"/>
            <a:ext cx="384048" cy="1783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5" name="Text 43"/>
          <p:cNvSpPr/>
          <p:nvPr/>
        </p:nvSpPr>
        <p:spPr>
          <a:xfrm>
            <a:off x="4736592" y="310896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4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193792" y="3182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Object → Nested Elements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193792" y="3520440"/>
            <a:ext cx="169164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48" name="Text 46"/>
          <p:cNvSpPr/>
          <p:nvPr/>
        </p:nvSpPr>
        <p:spPr>
          <a:xfrm>
            <a:off x="5193792" y="35204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JSON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39512" y="37124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"address":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"city": "London"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12864" y="3794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7260336" y="3520440"/>
            <a:ext cx="160020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52" name="Text 50"/>
          <p:cNvSpPr/>
          <p:nvPr/>
        </p:nvSpPr>
        <p:spPr>
          <a:xfrm>
            <a:off x="7260336" y="35204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XML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96912" y="371246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&lt;address&gt;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&lt;city&gt;London&lt;/city&gt;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&lt;/address&gt;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193792" y="4526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Nested objects map directly to nested XML child elements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→ JSON  Conversion Rules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05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XML /&gt;   →   { JSON 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251960" cy="1783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88720"/>
            <a:ext cx="384048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18872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261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Element → Root Object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600200"/>
            <a:ext cx="169164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6002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XML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79222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&lt;person&gt;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&lt;/person&gt;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96312" y="1874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43784" y="1600200"/>
            <a:ext cx="160020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6" name="Text 14"/>
          <p:cNvSpPr/>
          <p:nvPr/>
        </p:nvSpPr>
        <p:spPr>
          <a:xfrm>
            <a:off x="2843784" y="16002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JSON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80360" y="17922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"person": { ...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606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Root XML element becomes a top-level key in a JSON object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108960"/>
            <a:ext cx="4251960" cy="1783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08960"/>
            <a:ext cx="384048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10896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3182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 → String Value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169164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5204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XML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7124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&lt;name&gt;Alice&lt;/name&gt;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&lt;age&gt;30&lt;/age&gt;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96312" y="3794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843784" y="3520440"/>
            <a:ext cx="160020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28" name="Text 26"/>
          <p:cNvSpPr/>
          <p:nvPr/>
        </p:nvSpPr>
        <p:spPr>
          <a:xfrm>
            <a:off x="2843784" y="35204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JSON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80360" y="371246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"name": "Alice",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"age": "30"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77240" y="4526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All text becomes strings by default — cast numbers manually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36592" y="1188720"/>
            <a:ext cx="4251960" cy="1783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36592" y="1188720"/>
            <a:ext cx="384048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118872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93792" y="12618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Tags → JSON Array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193792" y="1600200"/>
            <a:ext cx="169164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36" name="Text 34"/>
          <p:cNvSpPr/>
          <p:nvPr/>
        </p:nvSpPr>
        <p:spPr>
          <a:xfrm>
            <a:off x="5193792" y="16002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XML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39512" y="179222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&lt;color&gt;red&lt;/color&gt;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&lt;color&gt;blue&lt;/color&gt;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12864" y="1874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260336" y="1600200"/>
            <a:ext cx="160020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40" name="Text 38"/>
          <p:cNvSpPr/>
          <p:nvPr/>
        </p:nvSpPr>
        <p:spPr>
          <a:xfrm>
            <a:off x="7260336" y="16002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JSON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96912" y="17922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"color":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"red", "blue"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93792" y="26060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Multiple sibling tags with same name are grouped into an array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36592" y="3108960"/>
            <a:ext cx="4251960" cy="17830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36592" y="3108960"/>
            <a:ext cx="384048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4736592" y="3108960"/>
            <a:ext cx="384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4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193792" y="3182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→ Object Properties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193792" y="3520440"/>
            <a:ext cx="169164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48" name="Text 46"/>
          <p:cNvSpPr/>
          <p:nvPr/>
        </p:nvSpPr>
        <p:spPr>
          <a:xfrm>
            <a:off x="5193792" y="35204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XML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39512" y="371246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&lt;user id="5"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role="admin"/&gt;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12864" y="3794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→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7260336" y="3520440"/>
            <a:ext cx="1600200" cy="8686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52" name="Text 50"/>
          <p:cNvSpPr/>
          <p:nvPr/>
        </p:nvSpPr>
        <p:spPr>
          <a:xfrm>
            <a:off x="7260336" y="35204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JSON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96912" y="371246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"user":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"@id": "5",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"@role": "admin"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193792" y="4526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Attributes often prefixed with "@" to distinguish from elements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JSON → XML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06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069080" cy="4206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406908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INPUT — JSON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3886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"library":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"City Library",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"established": 1965,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"open": 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"books":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"title": "The Hobbit",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"author": "Tolkien",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"year": 1937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"title": "1984",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"author": "Orwell",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"year": 1949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846320" y="749808"/>
            <a:ext cx="3977640" cy="4206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749808"/>
            <a:ext cx="397764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7498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OUTPUT — XML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143000"/>
            <a:ext cx="3794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version="1.0"?&gt;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&lt;library&gt;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&lt;name&gt;City Library&lt;/name&gt;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&lt;established&gt;1965&lt;/established&gt;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&lt;open&gt;true&lt;/open&gt;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&lt;books&gt;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&lt;title&gt;The Hobbit&lt;/title&gt;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&lt;author&gt;Tolkien&lt;/author&gt;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&lt;year&gt;1937&lt;/year&gt;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&lt;/books&gt;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&lt;books&gt;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&lt;title&gt;1984&lt;/title&gt;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&lt;author&gt;Orwell&lt;/author&gt;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&lt;year&gt;1949&lt;/year&gt;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&lt;/books&gt;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&lt;/library&gt;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50474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"library" key → root element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504748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Array items become repeated &lt;books&gt; tags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XML → JSON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07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069080" cy="4206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406908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INPUT — XML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143000"/>
            <a:ext cx="3886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version="1.0"?&gt;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&lt;catalog&gt;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&lt;product id="101" type="electronics"&gt;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&lt;name&gt;Laptop&lt;/name&gt;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&lt;price currency="USD"&gt;999.99&lt;/price&gt;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&lt;tags&gt;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&lt;tag&gt;portable&lt;/tag&gt;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&lt;tag&gt;computing&lt;/tag&gt;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&lt;/tags&gt;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&lt;inStock&gt;true&lt;/inStock&gt;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&lt;/product&gt;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&lt;/catalog&gt;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3484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846320" y="749808"/>
            <a:ext cx="3977640" cy="42062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749808"/>
            <a:ext cx="397764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7498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OUTPUT — JSON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143000"/>
            <a:ext cx="37947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"catalog":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"product":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"@id": "101",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"@type": "electronics",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"Laptop",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"price":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"@currency": "USD",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"#text": "999.99"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"tags":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"tag":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"portable",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"computing"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"inStock": "true"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320040" y="504748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Attributes → "@id", "@type" keys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50474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Mixed content → "#text" + "@currency"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527608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Repeated &lt;tag&gt; → array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JSON → XML in Python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08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9184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Method 1 — Using  xmltodict  library  (recommended)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160020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43000"/>
            <a:ext cx="8321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json, xmltodict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JSON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json_str = '{"person": {"name": "Alice", "age": 30, "hobbies": ["reading", "coding"]}}'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Parse JSON → Python dict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json.loads(json_str)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dict → XML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xml_str = xmltodict.unparse(data, pretty=True)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print(xml_str)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788920"/>
            <a:ext cx="8503920" cy="329184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78892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Method 2 — Manual Recursive Function (no libraries)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136392"/>
            <a:ext cx="8503920" cy="182880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3182112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json_to_xml(data, root_tag="root"):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convert(obj, tag):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isinstance(obj, dict):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children = "".join(convert(v, k) for k, v in obj.items())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f"&lt;{tag}&gt;{children}&lt;/{tag}&gt;"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isinstance(obj, list):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"".join(convert(item, tag) for item in obj)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f"&lt;{tag}&gt;{obj}&lt;/{tag}&gt;"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'&lt;?xml version="1.0"?&gt;' + convert(data, root_tag)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json.loads('{"name": "Alice", "age": 30}')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print(json_to_xml(data, "person"))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&lt;?xml version="1.0"?&gt;&lt;person&gt;&lt;name&gt;Alice&lt;/name&gt;&lt;age&gt;30&lt;/age&gt;&lt;/person&gt;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502920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💡  Install:  pip install xmltodict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XML → JSON in Python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09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9184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Method 1 — Using  xmltodict  library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8503920" cy="132588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33856"/>
            <a:ext cx="8321040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json, xmltodict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xml_str = """&lt;?xml version="1.0"?&gt;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&lt;library&gt;&lt;name&gt;City Library&lt;/name&gt;&lt;books&gt;&lt;title&gt;1984&lt;/title&gt;&lt;/books&gt;&lt;/library&gt;"""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Parse XML → OrderedDict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xmltodict.parse(xml_str)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JSON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json_str = json.dumps(data, indent=2)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print(json_str)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532888"/>
            <a:ext cx="8503920" cy="329184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53288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Method 2 — Using Python's built-in  xml.etree.ElementTree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880360"/>
            <a:ext cx="8503920" cy="2103120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926080"/>
            <a:ext cx="8321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xml.etree.ElementTree as ET, json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xml_to_dict(element):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Add attributes prefixed with @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key, val in element.attrib.items():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result[f"@{key}"] = 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Add child elements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child in element: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child_data = xml_to_dict(child)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child.tag in result: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Convert to list if duplicate tag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existing = result[child.tag]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isinstance(existing, list):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result[child.tag] = [existing]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result[child.tag].append(child_data)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result[child.tag] = child_data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Add text content if exists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element.text and element.text.strip():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result["#text"] = element.text.strip()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 if result else (element.text or "")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ET.fromstring('&lt;person id="1"&gt;&lt;name&gt;Alice&lt;/name&gt;&lt;/person&gt;')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print(json.dumps({root.tag: xml_to_dict(root)}, indent=2))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&amp; Common Gotchas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10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20624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420624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41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Null Values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15214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521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JSON: "value": null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67712" y="1207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78608" y="115214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2" name="Text 10"/>
          <p:cNvSpPr/>
          <p:nvPr/>
        </p:nvSpPr>
        <p:spPr>
          <a:xfrm>
            <a:off x="2578608" y="11521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&lt;value/&gt; or &lt;value xsi:nil='true'/&gt;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554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XML has no native null — use empty tag or nil attribute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749808"/>
            <a:ext cx="420624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749808"/>
            <a:ext cx="420624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841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 Types Lost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28032" y="115214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11521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"age": 30  (number)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84264" y="1207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95160" y="115214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11521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&lt;age&gt;30&lt;/age&gt;  (becomes string!)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28032" y="1554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XML is text-only — numbers/booleans need manual casting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212848"/>
            <a:ext cx="420624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212848"/>
            <a:ext cx="420624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304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Special Characters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261518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6151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"text": "A &amp; B &lt; C"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267712" y="26700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578608" y="261518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30" name="Text 28"/>
          <p:cNvSpPr/>
          <p:nvPr/>
        </p:nvSpPr>
        <p:spPr>
          <a:xfrm>
            <a:off x="2578608" y="26151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&lt;text&gt;A &amp;amp; B &amp;lt; C&lt;/text&gt;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3017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Must escape &amp;, &lt;, &gt;, ', " in XML using entities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36592" y="2212848"/>
            <a:ext cx="420624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2212848"/>
            <a:ext cx="420624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2304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XML Attributes vs JSON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28032" y="261518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36" name="Text 34"/>
          <p:cNvSpPr/>
          <p:nvPr/>
        </p:nvSpPr>
        <p:spPr>
          <a:xfrm>
            <a:off x="4828032" y="26151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&lt;user id="5" role="admin"/&gt;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684264" y="26700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95160" y="261518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39" name="Text 37"/>
          <p:cNvSpPr/>
          <p:nvPr/>
        </p:nvSpPr>
        <p:spPr>
          <a:xfrm>
            <a:off x="6995160" y="26151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"user": {"@id":"5","@role":"admin"}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28032" y="30175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"@" prefix convention to mark attribute-origin keys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675888"/>
            <a:ext cx="420624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675888"/>
            <a:ext cx="420624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3767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Single vs Array Ambiguity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11480" y="407822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" y="4078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&lt;book&gt;1984&lt;/book&gt;  (1 item)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267712" y="4133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578608" y="407822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48" name="Text 46"/>
          <p:cNvSpPr/>
          <p:nvPr/>
        </p:nvSpPr>
        <p:spPr>
          <a:xfrm>
            <a:off x="2578608" y="4078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"book": "1984"  or  ["1984"] ???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11480" y="4480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single tag is ambiguous — must be consistent or use schema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36592" y="3675888"/>
            <a:ext cx="420624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36592" y="3675888"/>
            <a:ext cx="4206240" cy="5486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2" name="Text 50"/>
          <p:cNvSpPr/>
          <p:nvPr/>
        </p:nvSpPr>
        <p:spPr>
          <a:xfrm>
            <a:off x="4828032" y="3767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XML Comments Lost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828032" y="407822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54" name="Text 52"/>
          <p:cNvSpPr/>
          <p:nvPr/>
        </p:nvSpPr>
        <p:spPr>
          <a:xfrm>
            <a:off x="4828032" y="4078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This is a comment --&gt;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684264" y="4133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995160" y="4078224"/>
            <a:ext cx="1828800" cy="347472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57" name="Text 55"/>
          <p:cNvSpPr/>
          <p:nvPr/>
        </p:nvSpPr>
        <p:spPr>
          <a:xfrm>
            <a:off x="6995160" y="40782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(discarded in JSON output)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828032" y="4480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JSON has no comment syntax — comments can't round-trip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When to Use Which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11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069080" cy="21945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49808"/>
            <a:ext cx="4069080" cy="38404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4980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✅  Use JSON When...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REST or web APIs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517904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4721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config files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801368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755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 communication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084832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39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JavaScript apps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2368296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3225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compact data size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65176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060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attributes are needed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749808"/>
            <a:ext cx="4069080" cy="21945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749808"/>
            <a:ext cx="40690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74980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✅  Use XML When...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123444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1887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legacy enterprise systems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151790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14721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schema validation (XSD)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180136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175564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SOAP web services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208483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0391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require metadata/attributes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236829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232257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XML namespaces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265176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26060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 with non-web standards (SVG, RSS)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0040" y="309067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Best Practices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0040" y="3383280"/>
            <a:ext cx="8503920" cy="2743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040" y="3456432"/>
            <a:ext cx="2057400" cy="1490472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" y="3502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11480" y="3867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Validate Schema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11480" y="416052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against JSON Schema or XSD before converting to catch structural errors early.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14600" y="3456432"/>
            <a:ext cx="2057400" cy="1490472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14600" y="3502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606040" y="3867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Handle Round-trips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06040" y="416052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that converting A→B→A gives back the original. Loss of types and attributes is common.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9160" y="3456432"/>
            <a:ext cx="2057400" cy="1490472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09160" y="3502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800600" y="3867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Use Libraries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00600" y="416052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xmltodict, lxml, or Jackson (Java) over handwritten parsers to avoid edge-case bugs.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03720" y="3456432"/>
            <a:ext cx="2057400" cy="1490472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903720" y="3502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995160" y="38679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Document Conventions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995160" y="416052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upfront: prefix attributes with "@"? Use "#text"? Make it consistent across your codebase.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Conversion Cheat Sheet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12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920240" cy="384048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749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JSON Concept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04288" y="749808"/>
            <a:ext cx="3200400" cy="384048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8" name="Text 6"/>
          <p:cNvSpPr/>
          <p:nvPr/>
        </p:nvSpPr>
        <p:spPr>
          <a:xfrm>
            <a:off x="2304288" y="749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XML Equivalent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68696" y="749808"/>
            <a:ext cx="3200400" cy="384048"/>
          </a:xfrm>
          <a:prstGeom prst="rect">
            <a:avLst/>
          </a:prstGeom>
          <a:solidFill>
            <a:srgbClr val="102235"/>
          </a:solidFill>
          <a:ln/>
        </p:spPr>
      </p:sp>
      <p:sp>
        <p:nvSpPr>
          <p:cNvPr id="10" name="Text 8"/>
          <p:cNvSpPr/>
          <p:nvPr/>
        </p:nvSpPr>
        <p:spPr>
          <a:xfrm>
            <a:off x="5568696" y="7498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Notes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188720"/>
            <a:ext cx="192024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1188720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 — object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04288" y="1188720"/>
            <a:ext cx="320040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188720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&lt;element&gt;…&lt;/element&gt;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68696" y="1188720"/>
            <a:ext cx="320040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5641848" y="1188720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parent element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1545336"/>
            <a:ext cx="192024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" y="1545336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"key": "value"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04288" y="1545336"/>
            <a:ext cx="320040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1545336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&lt;key&gt;value&lt;/key&gt;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68696" y="1545336"/>
            <a:ext cx="320040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5641848" y="1545336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→ tag + text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1901952"/>
            <a:ext cx="192024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" y="1901952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"key": 42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04288" y="1901952"/>
            <a:ext cx="320040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2377440" y="1901952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&lt;key&gt;42&lt;/key&gt;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68696" y="1901952"/>
            <a:ext cx="320040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8" name="Text 26"/>
          <p:cNvSpPr/>
          <p:nvPr/>
        </p:nvSpPr>
        <p:spPr>
          <a:xfrm>
            <a:off x="5641848" y="1901952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become text strings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258568"/>
            <a:ext cx="192024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30" name="Text 28"/>
          <p:cNvSpPr/>
          <p:nvPr/>
        </p:nvSpPr>
        <p:spPr>
          <a:xfrm>
            <a:off x="393192" y="2258568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"key": 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304288" y="2258568"/>
            <a:ext cx="320040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32" name="Text 30"/>
          <p:cNvSpPr/>
          <p:nvPr/>
        </p:nvSpPr>
        <p:spPr>
          <a:xfrm>
            <a:off x="2377440" y="2258568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&lt;key&gt;true&lt;/key&gt;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68696" y="2258568"/>
            <a:ext cx="320040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5641848" y="2258568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 → text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2615184"/>
            <a:ext cx="192024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" y="2615184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"key": null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04288" y="2615184"/>
            <a:ext cx="320040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8" name="Text 36"/>
          <p:cNvSpPr/>
          <p:nvPr/>
        </p:nvSpPr>
        <p:spPr>
          <a:xfrm>
            <a:off x="2377440" y="2615184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&lt;key/&gt;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568696" y="2615184"/>
            <a:ext cx="320040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0" name="Text 38"/>
          <p:cNvSpPr/>
          <p:nvPr/>
        </p:nvSpPr>
        <p:spPr>
          <a:xfrm>
            <a:off x="5641848" y="2615184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→ empty or xsi:nil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" y="2971800"/>
            <a:ext cx="192024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42" name="Text 40"/>
          <p:cNvSpPr/>
          <p:nvPr/>
        </p:nvSpPr>
        <p:spPr>
          <a:xfrm>
            <a:off x="393192" y="2971800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— array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304288" y="2971800"/>
            <a:ext cx="320040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2377440" y="2971800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Repeated same-name tags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568696" y="2971800"/>
            <a:ext cx="320040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46" name="Text 44"/>
          <p:cNvSpPr/>
          <p:nvPr/>
        </p:nvSpPr>
        <p:spPr>
          <a:xfrm>
            <a:off x="5641848" y="2971800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have no direct match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3328416"/>
            <a:ext cx="192024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393192" y="3328416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{ }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304288" y="3328416"/>
            <a:ext cx="320040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0" name="Text 48"/>
          <p:cNvSpPr/>
          <p:nvPr/>
        </p:nvSpPr>
        <p:spPr>
          <a:xfrm>
            <a:off x="2377440" y="3328416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Nested child elements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68696" y="3328416"/>
            <a:ext cx="320040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2" name="Text 50"/>
          <p:cNvSpPr/>
          <p:nvPr/>
        </p:nvSpPr>
        <p:spPr>
          <a:xfrm>
            <a:off x="5641848" y="3328416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 maps directly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3685032"/>
            <a:ext cx="192024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54" name="Text 52"/>
          <p:cNvSpPr/>
          <p:nvPr/>
        </p:nvSpPr>
        <p:spPr>
          <a:xfrm>
            <a:off x="393192" y="3685032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attributes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304288" y="3685032"/>
            <a:ext cx="320040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56" name="Text 54"/>
          <p:cNvSpPr/>
          <p:nvPr/>
        </p:nvSpPr>
        <p:spPr>
          <a:xfrm>
            <a:off x="2377440" y="3685032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id="1" type="admin"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68696" y="3685032"/>
            <a:ext cx="320040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58" name="Text 56"/>
          <p:cNvSpPr/>
          <p:nvPr/>
        </p:nvSpPr>
        <p:spPr>
          <a:xfrm>
            <a:off x="5641848" y="3685032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have no JSON equiv.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20040" y="4041648"/>
            <a:ext cx="192024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0" name="Text 58"/>
          <p:cNvSpPr/>
          <p:nvPr/>
        </p:nvSpPr>
        <p:spPr>
          <a:xfrm>
            <a:off x="393192" y="4041648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comments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304288" y="4041648"/>
            <a:ext cx="320040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2" name="Text 60"/>
          <p:cNvSpPr/>
          <p:nvPr/>
        </p:nvSpPr>
        <p:spPr>
          <a:xfrm>
            <a:off x="2377440" y="4041648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comment --&gt;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568696" y="4041648"/>
            <a:ext cx="3200400" cy="33832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4" name="Text 62"/>
          <p:cNvSpPr/>
          <p:nvPr/>
        </p:nvSpPr>
        <p:spPr>
          <a:xfrm>
            <a:off x="5641848" y="4041648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are lost in conversion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20040" y="4398264"/>
            <a:ext cx="192024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66" name="Text 64"/>
          <p:cNvSpPr/>
          <p:nvPr/>
        </p:nvSpPr>
        <p:spPr>
          <a:xfrm>
            <a:off x="393192" y="4398264"/>
            <a:ext cx="177393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namespace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304288" y="4398264"/>
            <a:ext cx="320040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68" name="Text 66"/>
          <p:cNvSpPr/>
          <p:nvPr/>
        </p:nvSpPr>
        <p:spPr>
          <a:xfrm>
            <a:off x="2377440" y="4398264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xmlns:prefix="uri"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5568696" y="4398264"/>
            <a:ext cx="3200400" cy="338328"/>
          </a:xfrm>
          <a:prstGeom prst="rect">
            <a:avLst/>
          </a:prstGeom>
          <a:solidFill>
            <a:srgbClr val="151F33"/>
          </a:solidFill>
          <a:ln/>
        </p:spPr>
      </p:sp>
      <p:sp>
        <p:nvSpPr>
          <p:cNvPr id="70" name="Text 68"/>
          <p:cNvSpPr/>
          <p:nvPr/>
        </p:nvSpPr>
        <p:spPr>
          <a:xfrm>
            <a:off x="5641848" y="4398264"/>
            <a:ext cx="30540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must be handled separately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804672"/>
            <a:ext cx="2743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987552"/>
            <a:ext cx="8046720" cy="56692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9875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987552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uses key-value pairs and arrays; XML uses nested elements and attributes.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8046720" cy="56692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6459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1645920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is mostly straightforward but requires handling of types, arrays, and attributes carefully.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304288"/>
            <a:ext cx="8046720" cy="56692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30428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30428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in JSON → repeated XML tags; XML attributes → JSON keys with '@' prefix convention.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8046720" cy="56692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9626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2962656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are lost going to XML (everything becomes text). Cast them back when converting to JSON.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21024"/>
            <a:ext cx="8046720" cy="56692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362102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621024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xmltodict library is the easiest way to convert in both directions programmatically.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279392"/>
            <a:ext cx="8046720" cy="56692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427939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97280" y="4279392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JSON for APIs and web apps; choose XML for enterprise, document-heavy, or schema-validated systems.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↔ XML  |  Study Material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Shap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Examples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2743200" y="233172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 with Full Solutions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11680" y="3017520"/>
            <a:ext cx="5120640" cy="32918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30175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Q1 – XML → JSON (members &amp; services)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3401568"/>
            <a:ext cx="5120640" cy="32918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340156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Q2 – JSON → XML (order with nested delivery)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0" y="3785616"/>
            <a:ext cx="5120640" cy="32918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37856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Q3 – JSON → XML (student with courses array)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11680" y="4169664"/>
            <a:ext cx="5120640" cy="32918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416966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Q4 – XML → JSON (product with attributes)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4553712"/>
            <a:ext cx="5120640" cy="32918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45537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Q5 – JSON → XML (employee with mixed types)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"/>
            <a:ext cx="6400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2743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 Marks]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the following XML  →  JSON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system data — extract member info and services list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9536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630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XML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8595360" cy="3017520"/>
          </a:xfrm>
          <a:prstGeom prst="rect">
            <a:avLst/>
          </a:prstGeom>
          <a:solidFill>
            <a:srgbClr val="070F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847088"/>
            <a:ext cx="8321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&lt;library&gt;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&lt;member&gt;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&lt;id&gt;M101&lt;/id&gt;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&lt;name&gt;Fatma Al-Raisi&lt;/name&gt;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&lt;type&gt;Premium&lt;/type&gt;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&lt;/member&gt;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&lt;services&gt;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&lt;service&gt;Borrowing&lt;/service&gt;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&lt;service&gt;E-books&lt;/service&gt;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&lt;/services&gt;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&lt;/library&gt;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✏️  Write your answer below  →  See solution on next slide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4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"/>
            <a:ext cx="8412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— Question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  →  JSON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3931920" cy="3858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393192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INPUT — XML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3931920" cy="3529584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44752"/>
            <a:ext cx="374904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&lt;library&gt;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&lt;member&gt;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&lt;id&gt;M101&lt;/id&gt;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&lt;name&gt;Fatma Al-Raisi&lt;/name&gt;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&lt;type&gt;Premium&lt;/type&gt;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&lt;/member&gt;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&lt;services&gt;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&lt;service&gt;Borrowing&lt;/service&gt;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&lt;service&gt;E-books&lt;/service&gt;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&lt;/services&gt;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&lt;/library&gt;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3367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754880" y="1078992"/>
            <a:ext cx="4114800" cy="3858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OUTPUT — JSON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08176"/>
            <a:ext cx="4114800" cy="3529584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444752"/>
            <a:ext cx="39319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"library":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"member":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 "M101",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"Fatma Al-Raisi",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"type": "Premium"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"services":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"service":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"Borrowing",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"E-books"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96519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Root &lt;library&gt; becomes the top-level JSON key.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510235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Repeated &lt;service&gt; tags with the same name → JSON array.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523951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All values become strings by default in JSON from XML.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"/>
            <a:ext cx="6400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2743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 Marks]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the following JSON  →  XML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— nested delivery object and items array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9536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630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8595360" cy="3017520"/>
          </a:xfrm>
          <a:prstGeom prst="rect">
            <a:avLst/>
          </a:prstGeom>
          <a:solidFill>
            <a:srgbClr val="070F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847088"/>
            <a:ext cx="8321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"orderID": "ORD-55",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"customer": "Khalid",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"Laptop",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"Mouse"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"delivery":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"provider": "Aramex",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"cost":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✏️  Write your answer below  →  See solution on next slide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4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"/>
            <a:ext cx="8412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— Question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 →  XML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3931920" cy="3858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393192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INPUT — JSON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3931920" cy="3529584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44752"/>
            <a:ext cx="374904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"orderID": "ORD-55",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"customer": "Khalid",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"Laptop",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"Mouse"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"delivery":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"provider": "Aramex",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"cost":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3367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754880" y="1078992"/>
            <a:ext cx="4114800" cy="3858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OUTPUT — XML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08176"/>
            <a:ext cx="4114800" cy="3529584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444752"/>
            <a:ext cx="39319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version="1.0"?&gt;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&lt;order&gt;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&lt;orderID&gt;ORD-55&lt;/orderID&gt;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&lt;customer&gt;Khalid&lt;/customer&gt;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&lt;items&gt;Laptop&lt;/items&gt;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&lt;items&gt;Mouse&lt;/items&gt;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&lt;delivery&gt;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&lt;provider&gt;Aramex&lt;/provider&gt;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&lt;cost&gt;5&lt;/cost&gt;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&lt;/delivery&gt;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&lt;/order&gt;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96519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JSON array items → repeated XML tags using the array's key name.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510235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Nested object "delivery" maps directly to a parent XML element.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523951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wrapping root element &lt;order&gt; is required — JSON has no root concept.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"/>
            <a:ext cx="6400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2743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 Marks]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the following JSON  →  XML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 record — enrolled courses and GPA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9536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630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8595360" cy="3017520"/>
          </a:xfrm>
          <a:prstGeom prst="rect">
            <a:avLst/>
          </a:prstGeom>
          <a:solidFill>
            <a:srgbClr val="070F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847088"/>
            <a:ext cx="8321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"student":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"studentID": "STU-202",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"Ahmed Al-Balushi",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"gpa": 3.75,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"active": true,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"courses":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"CS101",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"MATH201",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"ENG102"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✏️  Write your answer below  →  See solution on next slide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4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"/>
            <a:ext cx="8412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— Question 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 →  XML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3931920" cy="3858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393192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INPUT — JSON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3931920" cy="3529584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44752"/>
            <a:ext cx="374904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"student":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"studentID": "STU-202",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"Ahmed Al-Balushi",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"gpa": 3.75,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"active":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"courses":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"CS101",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"MATH201",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"ENG102"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3367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754880" y="1078992"/>
            <a:ext cx="4114800" cy="3858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OUTPUT — XML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08176"/>
            <a:ext cx="4114800" cy="3529584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444752"/>
            <a:ext cx="39319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version="1.0"?&gt;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&lt;student&gt;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&lt;studentID&gt;STU-202&lt;/studentID&gt;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&lt;name&gt;Ahmed Al-Balushi&lt;/name&gt;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&lt;gpa&gt;3.75&lt;/gpa&gt;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&lt;active&gt;true&lt;/active&gt;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&lt;courses&gt;CS101&lt;/courses&gt;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&lt;courses&gt;MATH201&lt;/courses&gt;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&lt;courses&gt;ENG102&lt;/courses&gt;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&lt;/student&gt;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96519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Each array element in "courses" becomes a separate &lt;courses&gt; tag.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510235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Numbers (3.75) and booleans (true) become plain text in XML — no type info.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523951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Root element &lt;student&gt; comes from the outermost JSON key.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"/>
            <a:ext cx="6400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2743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 Marks]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the following XML  →  JSON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— XML attributes must map to JSON keys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9536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630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XML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8595360" cy="3017520"/>
          </a:xfrm>
          <a:prstGeom prst="rect">
            <a:avLst/>
          </a:prstGeom>
          <a:solidFill>
            <a:srgbClr val="070F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847088"/>
            <a:ext cx="8321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&lt;catalog&gt;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&lt;product id="P-88" category="electronics"&gt;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&lt;name&gt;Wireless Headphones&lt;/name&gt;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&lt;price currency="OMR"&gt;15.500&lt;/price&gt;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&lt;stock&gt;42&lt;/stock&gt;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&lt;tags&gt;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&lt;tag&gt;audio&lt;/tag&gt;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&lt;tag&gt;portable&lt;/tag&gt;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&lt;/tags&gt;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&lt;/product&gt;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&lt;/catalog&gt;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✏️  Write your answer below  →  See solution on next slide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4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"/>
            <a:ext cx="8412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— Question 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XML  →  JSON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3931920" cy="3858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393192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INPUT — XML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3931920" cy="3529584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44752"/>
            <a:ext cx="374904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&lt;catalog&gt;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&lt;product id="P-88" category="electronics"&gt;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&lt;name&gt;Wireless Headphones&lt;/name&gt;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&lt;price currency="OMR"&gt;15.500&lt;/price&gt;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&lt;stock&gt;42&lt;/stock&gt;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&lt;tags&gt;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&lt;tag&gt;audio&lt;/tag&gt;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&lt;tag&gt;portable&lt;/tag&gt;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&lt;/tags&gt;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&lt;/product&gt;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&lt;/catalog&gt;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3367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754880" y="1078992"/>
            <a:ext cx="4114800" cy="3858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OUTPUT — JSON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08176"/>
            <a:ext cx="4114800" cy="3529584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444752"/>
            <a:ext cx="39319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"catalog":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"product":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"@id": "P-88",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"@category": "electronics",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"Wireless Headphones",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"price":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"@currency": "OMR",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"#text": "15.500"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"stock": "42",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"tags":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"tag": ["audio", "portable"]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96519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XML attributes → JSON keys prefixed with "@" by convention.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510235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Mixed content (attribute + text) → object with "@attr" and "#text" keys.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523951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Repeated &lt;tag&gt; elements → JSON array under the key "tag".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"/>
            <a:ext cx="6400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2743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 Marks]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858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 the following JSON  →  XML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1556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record — null values, booleans, and nested address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463040"/>
            <a:ext cx="859536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6304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JSON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801368"/>
            <a:ext cx="8595360" cy="3017520"/>
          </a:xfrm>
          <a:prstGeom prst="rect">
            <a:avLst/>
          </a:prstGeom>
          <a:solidFill>
            <a:srgbClr val="070F1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1847088"/>
            <a:ext cx="8321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"employee":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"empID": "E-300",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"Sara Al-Harthi",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"department": "Engineering",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"active": true,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"manager": null,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"address":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"city": "Muscat",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"country": "Oman"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"skills":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"Python",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"XML",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"JSON"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86460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✏️  Write your answer below  →  See solution on next slide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4C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"/>
            <a:ext cx="84124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— Question 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solidFill>
            <a:srgbClr val="10203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85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 →  XML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078992"/>
            <a:ext cx="3931920" cy="3858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78992"/>
            <a:ext cx="3931920" cy="32918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INPUT — JSON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3931920" cy="3529584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444752"/>
            <a:ext cx="374904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"employee":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"empID": "E-300",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"name": "Sara Al-Harthi",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"department": "Engineering",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"active": 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"manager": null,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"address":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"city": "Muscat",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"country": "Oman"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"skills":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"Python",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"XML",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"JSON"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33672" y="2560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754880" y="1078992"/>
            <a:ext cx="4114800" cy="3858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789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OUTPUT — XML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408176"/>
            <a:ext cx="4114800" cy="3529584"/>
          </a:xfrm>
          <a:prstGeom prst="rect">
            <a:avLst/>
          </a:prstGeom>
          <a:solidFill>
            <a:srgbClr val="070F1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444752"/>
            <a:ext cx="3931920" cy="3456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&lt;?xml version="1.0"?&gt;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&lt;employee&gt;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&lt;empID&gt;E-300&lt;/empID&gt;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&lt;name&gt;Sara Al-Harthi&lt;/name&gt;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&lt;department&gt;Engineering&lt;/department&gt;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&lt;active&gt;true&lt;/active&gt;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&lt;manager/&gt;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&lt;address&gt;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&lt;city&gt;Muscat&lt;/city&gt;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&lt;country&gt;Oman&lt;/country&gt;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&lt;/address&gt;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&lt;skills&gt;Python&lt;/skills&gt;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&lt;skills&gt;XML&lt;/skills&gt;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&lt;skills&gt;JSON&lt;/skills&gt;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&lt;/employee&gt;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96519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null → empty self-closing tag &lt;manager/&gt; (no native null in XML).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510235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Boolean true → text string "true" — no type is preserved.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523951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Nested object "address" maps directly to a parent element with children.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JSON ↔ XML Conversion</dc:title>
  <dc:subject>PptxGenJS Presentation</dc:subject>
  <dc:creator>Study Material</dc:creator>
  <cp:lastModifiedBy>Study Material</cp:lastModifiedBy>
  <cp:revision>1</cp:revision>
  <dcterms:created xsi:type="dcterms:W3CDTF">2026-03-25T12:39:08Z</dcterms:created>
  <dcterms:modified xsi:type="dcterms:W3CDTF">2026-03-25T12:39:08Z</dcterms:modified>
</cp:coreProperties>
</file>